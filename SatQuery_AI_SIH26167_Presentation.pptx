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B2C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0728655" cy="530352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777240"/>
            <a:ext cx="101800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B2C5B"/>
                </a:solidFill>
              </a:defRPr>
            </a:pPr>
            <a:r>
              <a:t>SatQuery AI</a:t>
            </a:r>
          </a:p>
          <a:p>
            <a:pPr algn="ctr">
              <a:spcBef>
                <a:spcPts val="600"/>
              </a:spcBef>
              <a:defRPr sz="1650" b="1">
                <a:solidFill>
                  <a:srgbClr val="0D6ECC"/>
                </a:solidFill>
              </a:defRPr>
            </a:pPr>
            <a:r>
              <a:t>An Interactive Vision-Language Assistant for Multimodal Remote Sensing Image Analysis through Text Queries</a:t>
            </a:r>
          </a:p>
          <a:p>
            <a:pPr algn="ctr">
              <a:spcBef>
                <a:spcPts val="1400"/>
              </a:spcBef>
              <a:defRPr sz="1300" b="1">
                <a:solidFill>
                  <a:srgbClr val="800080"/>
                </a:solidFill>
              </a:defRPr>
            </a:pPr>
            <a:r>
              <a:t>SMART INDIA HACKATHON 2026 | IDEA SUBMISSION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212529"/>
                </a:solidFill>
              </a:rPr>
              <a:t>Problem Statement ID: </a:t>
            </a:r>
            <a:r>
              <a:rPr sz="1200">
                <a:solidFill>
                  <a:srgbClr val="0B2C5B"/>
                </a:solidFill>
              </a:rPr>
              <a:t>SIH26167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212529"/>
                </a:solidFill>
              </a:rPr>
              <a:t>Problem Statement Title: </a:t>
            </a:r>
            <a:r>
              <a:rPr sz="1200">
                <a:solidFill>
                  <a:srgbClr val="212529"/>
                </a:solidFill>
              </a:rPr>
              <a:t>Interactive Vision-Language Assistant for Multimodal Remote Sensing Image Analysis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212529"/>
                </a:solidFill>
              </a:rPr>
              <a:t>Category / Theme: </a:t>
            </a:r>
            <a:r>
              <a:rPr sz="1200">
                <a:solidFill>
                  <a:srgbClr val="212529"/>
                </a:solidFill>
              </a:rPr>
              <a:t>Space Technology / Disaster Management / Water Resources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212529"/>
                </a:solidFill>
              </a:rPr>
              <a:t>Aligned Ministries/Agencies: </a:t>
            </a:r>
            <a:r>
              <a:rPr sz="1200">
                <a:solidFill>
                  <a:srgbClr val="0B2C5B"/>
                </a:solidFill>
              </a:rPr>
              <a:t>ISRO / Space Applications Centre (SAC) &amp; Ministry of Jal Shakti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212529"/>
                </a:solidFill>
              </a:rPr>
              <a:t>Team Name: </a:t>
            </a:r>
            <a:r>
              <a:rPr sz="1200">
                <a:solidFill>
                  <a:srgbClr val="212529"/>
                </a:solidFill>
              </a:rPr>
              <a:t>Your Team Name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212529"/>
                </a:solidFill>
              </a:rPr>
              <a:t>Team Leader &amp; Members: </a:t>
            </a:r>
            <a:r>
              <a:rPr sz="1200">
                <a:solidFill>
                  <a:srgbClr val="212529"/>
                </a:solidFill>
              </a:rPr>
              <a:t>Team Leader (Leader) | Member 1 | Member 2 | Member 3 | Member 4 | Member 5</a:t>
            </a:r>
          </a:p>
          <a:p>
            <a:pPr>
              <a:spcBef>
                <a:spcPts val="600"/>
              </a:spcBef>
            </a:pPr>
            <a:r>
              <a:rPr b="1" sz="1200">
                <a:solidFill>
                  <a:srgbClr val="212529"/>
                </a:solidFill>
              </a:rPr>
              <a:t>College / Institute Name: </a:t>
            </a:r>
            <a:r>
              <a:rPr sz="1200">
                <a:solidFill>
                  <a:srgbClr val="212529"/>
                </a:solidFill>
              </a:rPr>
              <a:t>Your College / University Name, City, State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D6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327648"/>
            <a:ext cx="1036289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FFFFFF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27648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5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1005840"/>
          </a:xfrm>
          <a:prstGeom prst="ellipse">
            <a:avLst/>
          </a:prstGeom>
          <a:solidFill>
            <a:srgbClr val="FFFFFF"/>
          </a:solidFill>
          <a:ln w="22860">
            <a:solidFill>
              <a:srgbClr val="8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12529"/>
                </a:solidFill>
              </a:defRPr>
            </a:pPr>
            <a:r>
              <a:t>Your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212529"/>
                </a:solidFill>
              </a:defRPr>
            </a:pPr>
            <a:r>
              <a:t>SatQuery AI: Interactive Multimodal RS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164592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0B2C5B"/>
                </a:solidFill>
              </a:defRPr>
            </a:pPr>
            <a:r>
              <a:t>SMART INDIA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HACKATHON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D6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327648"/>
            <a:ext cx="1036289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FFFFFF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27648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5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 u="sng">
                <a:solidFill>
                  <a:srgbClr val="0D6ECC"/>
                </a:solidFill>
              </a:rPr>
              <a:t>❖ Proposed Solution (Describe your Idea/Solution/Prototype)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3611880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121408"/>
            <a:ext cx="3282696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2C5B"/>
                </a:solidFill>
              </a:defRPr>
            </a:pPr>
            <a:r>
              <a:t>• Detailed explanation of the proposed solution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Agentic AI Assistant: </a:t>
            </a:r>
            <a:r>
              <a:rPr sz="1019">
                <a:solidFill>
                  <a:srgbClr val="212529"/>
                </a:solidFill>
              </a:rPr>
              <a:t>Translates natural-language text questions into multi-spectral satellite analytics without requiring manual GIS tooling.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7 Specialist AI Engines: </a:t>
            </a:r>
            <a:r>
              <a:rPr sz="1019">
                <a:solidFill>
                  <a:srgbClr val="212529"/>
                </a:solidFill>
              </a:rPr>
              <a:t>Integrates fine-tuned BLIP VQA, dense scene captioning, text-guided grounding, change detection, Optical+SAR fusion, NDWI, and NDBI.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Multi-Sensor Ingestion: </a:t>
            </a:r>
            <a:r>
              <a:rPr sz="1019">
                <a:solidFill>
                  <a:srgbClr val="212529"/>
                </a:solidFill>
              </a:rPr>
              <a:t>Natively ingests single GeoTIFFs, bi-temporal pairs, and optical+radar stacks while preserving real CRS georeferencing and spectral bit-depth.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Interactive Map Canvas: </a:t>
            </a:r>
            <a:r>
              <a:rPr sz="1019">
                <a:solidFill>
                  <a:srgbClr val="212529"/>
                </a:solidFill>
              </a:rPr>
              <a:t>Delivers human-readable answers coupled with interactive MapLibre GL map layers (bounding boxes, pixel masks, and bi-temporal swipe wipes).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2011680"/>
            <a:ext cx="3611880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2121408"/>
            <a:ext cx="3282696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2C5B"/>
                </a:solidFill>
              </a:defRPr>
            </a:pPr>
            <a:r>
              <a:t>• How it addresses the problem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Democratizes Space Data: </a:t>
            </a:r>
            <a:r>
              <a:rPr sz="1019">
                <a:solidFill>
                  <a:srgbClr val="212529"/>
                </a:solidFill>
              </a:rPr>
              <a:t>Enables hydrologists, disaster teams, and planners to query complex satellite data in plain English without learning GIS software.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All-Weather Continuity: </a:t>
            </a:r>
            <a:r>
              <a:rPr sz="1019">
                <a:solidFill>
                  <a:srgbClr val="212529"/>
                </a:solidFill>
              </a:rPr>
              <a:t>Combines optical scenes with Sentinel-1 / RISAT C-band SAR radar to penetrate monsoon cloud cover and heavy haze during disasters.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Sub-Second Turnaround: </a:t>
            </a:r>
            <a:r>
              <a:rPr sz="1019">
                <a:solidFill>
                  <a:srgbClr val="212529"/>
                </a:solidFill>
              </a:rPr>
              <a:t>Cuts geospatial turnaround time from hours to milliseconds (&lt;70ms for spectral tools, &lt;260ms for multimodal fusion).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Automated Preprocessing: </a:t>
            </a:r>
            <a:r>
              <a:rPr sz="1019">
                <a:solidFill>
                  <a:srgbClr val="212529"/>
                </a:solidFill>
              </a:rPr>
              <a:t>Auto-reprojects coordinate systems (EPSG), scales 16-bit to 8-bit dynamic contrast, and co-registers multi-sensor rasters.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2" y="2011680"/>
            <a:ext cx="3611880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2121408"/>
            <a:ext cx="3282696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2C5B"/>
                </a:solidFill>
              </a:defRPr>
            </a:pPr>
            <a:r>
              <a:t>• Innovation and uniqueness of the solution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Zero-Hallucination Routing: </a:t>
            </a:r>
            <a:r>
              <a:rPr sz="1019">
                <a:solidFill>
                  <a:srgbClr val="212529"/>
                </a:solidFill>
              </a:rPr>
              <a:t>Deterministic QueryClassifier maps queries strictly to verified capabilities, guaranteeing factual, auditable answers.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Native ISRO Mission Support: </a:t>
            </a:r>
            <a:r>
              <a:rPr sz="1019">
                <a:solidFill>
                  <a:srgbClr val="212529"/>
                </a:solidFill>
              </a:rPr>
              <a:t>Built-in adapters for Resourcesat-2A (LISS-4 5.8m), Cartosat-2S/3, and RISAT-1A with authentic product metadata.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Multimodal Optical+SAR Co-Analysis: </a:t>
            </a:r>
            <a:r>
              <a:rPr sz="1019">
                <a:solidFill>
                  <a:srgbClr val="212529"/>
                </a:solidFill>
              </a:rPr>
              <a:t>Simultaneously reasons across optical surface reflectance and calibrated radar backscatter on a single grid.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Transparent Execution Audit: </a:t>
            </a:r>
            <a:r>
              <a:rPr sz="1019">
                <a:solidFill>
                  <a:srgbClr val="212529"/>
                </a:solidFill>
              </a:rPr>
              <a:t>Every result includes an immutable audit log detailing exact model latency, confidence scores, and parameters.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1005840"/>
          </a:xfrm>
          <a:prstGeom prst="ellipse">
            <a:avLst/>
          </a:prstGeom>
          <a:solidFill>
            <a:srgbClr val="FFFFFF"/>
          </a:solidFill>
          <a:ln w="22860">
            <a:solidFill>
              <a:srgbClr val="8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12529"/>
                </a:solidFill>
              </a:defRPr>
            </a:pPr>
            <a:r>
              <a:t>Your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12529"/>
                </a:solidFill>
              </a:defRPr>
            </a:pPr>
            <a:r>
              <a:t>TECHNICAL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164592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0B2C5B"/>
                </a:solidFill>
              </a:defRPr>
            </a:pPr>
            <a:r>
              <a:t>SMART INDIA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HACKATHON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D6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327648"/>
            <a:ext cx="1036289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FFFFFF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27648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5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 u="sng">
                <a:solidFill>
                  <a:srgbClr val="0D6ECC"/>
                </a:solidFill>
              </a:rPr>
              <a:t>❖ Technical Approach (Architecture, Stack &amp; Methodology)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5504688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21408"/>
            <a:ext cx="5138928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C5B"/>
                </a:solidFill>
              </a:defRPr>
            </a:pPr>
            <a:r>
              <a:t>• Technologies to be used (e.g. programming languages, frameworks, hardware)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212529"/>
                </a:solidFill>
              </a:rPr>
              <a:t>• Languages: </a:t>
            </a:r>
            <a:r>
              <a:rPr sz="1100">
                <a:solidFill>
                  <a:srgbClr val="212529"/>
                </a:solidFill>
              </a:rPr>
              <a:t>Python 3.11 (Backend AI/GIS Engines), TypeScript (Frontend Web App).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212529"/>
                </a:solidFill>
              </a:rPr>
              <a:t>• Frontend GIS: </a:t>
            </a:r>
            <a:r>
              <a:rPr sz="1100">
                <a:solidFill>
                  <a:srgbClr val="212529"/>
                </a:solidFill>
              </a:rPr>
              <a:t>React 19, Vite 8, Tailwind CSS v4, MapLibre GL (@nextgis/ngw-map).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212529"/>
                </a:solidFill>
              </a:rPr>
              <a:t>• Backend &amp; API: </a:t>
            </a:r>
            <a:r>
              <a:rPr sz="1100">
                <a:solidFill>
                  <a:srgbClr val="212529"/>
                </a:solidFill>
              </a:rPr>
              <a:t>FastAPI, Uvicorn ASGI, Pydantic v2 schemas, RESTful OpenAPI/Swagger.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212529"/>
                </a:solidFill>
              </a:rPr>
              <a:t>• AI / Vision-Language: </a:t>
            </a:r>
            <a:r>
              <a:rPr sz="1100">
                <a:solidFill>
                  <a:srgbClr val="212529"/>
                </a:solidFill>
              </a:rPr>
              <a:t>PyTorch, Hugging Face Transformers (Fine-tuned BLIP VQA &amp; Grounder).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212529"/>
                </a:solidFill>
              </a:rPr>
              <a:t>• Geospatial Engine: </a:t>
            </a:r>
            <a:r>
              <a:rPr sz="1100">
                <a:solidFill>
                  <a:srgbClr val="212529"/>
                </a:solidFill>
              </a:rPr>
              <a:t>GDAL, Rasterio, NumPy (GeoTIFF, NetCDF, CRS reprojection, band math).</a:t>
            </a:r>
          </a:p>
          <a:p>
            <a:pPr>
              <a:spcBef>
                <a:spcPts val="800"/>
              </a:spcBef>
            </a:pPr>
            <a:r>
              <a:rPr b="1" sz="1100">
                <a:solidFill>
                  <a:srgbClr val="212529"/>
                </a:solidFill>
              </a:rPr>
              <a:t>• Hardware &amp; Portability: </a:t>
            </a:r>
            <a:r>
              <a:rPr sz="1100">
                <a:solidFill>
                  <a:srgbClr val="212529"/>
                </a:solidFill>
              </a:rPr>
              <a:t>Optimized CPU inference (&lt;300ms), optional CUDA GPU acceleration.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2011680"/>
            <a:ext cx="5504688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2121408"/>
            <a:ext cx="5138928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C5B"/>
                </a:solidFill>
              </a:defRPr>
            </a:pPr>
            <a:r>
              <a:t>• Methodology and process for implementation (Flow Charts/Images/ working prototype)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9944" y="2542032"/>
            <a:ext cx="5138928" cy="5120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4C3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defRPr sz="1050" b="1">
                <a:solidFill>
                  <a:srgbClr val="0B2C5B"/>
                </a:solidFill>
              </a:defRPr>
            </a:pPr>
            <a:r>
              <a:t>Step 1: Raster Ingestion &amp; Georeferencing</a:t>
            </a:r>
          </a:p>
          <a:p>
            <a:pPr>
              <a:defRPr sz="919">
                <a:solidFill>
                  <a:srgbClr val="212529"/>
                </a:solidFill>
              </a:defRPr>
            </a:pPr>
            <a:r>
              <a:t>Auto-reads GeoTIFFs, reprojects CRS, extracts bounds &amp; metadata (GDAL/Rasterio)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7384" y="3017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D6ECC"/>
                </a:solidFill>
              </a:defRPr>
            </a:pPr>
            <a:r>
              <a:t>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944" y="3236976"/>
            <a:ext cx="5138928" cy="512064"/>
          </a:xfrm>
          <a:prstGeom prst="roundRect">
            <a:avLst/>
          </a:prstGeom>
          <a:solidFill>
            <a:srgbClr val="F1F5FA"/>
          </a:solidFill>
          <a:ln w="15240">
            <a:solidFill>
              <a:srgbClr val="0D6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defRPr sz="1050" b="1">
                <a:solidFill>
                  <a:srgbClr val="0B2C5B"/>
                </a:solidFill>
              </a:defRPr>
            </a:pPr>
            <a:r>
              <a:t>Step 2: Natural Language Intent Parsing</a:t>
            </a:r>
          </a:p>
          <a:p>
            <a:pPr>
              <a:defRPr sz="919">
                <a:solidFill>
                  <a:srgbClr val="212529"/>
                </a:solidFill>
              </a:defRPr>
            </a:pPr>
            <a:r>
              <a:t>QueryClassifier parses question intent &amp; validates input modality constraints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87384" y="3712464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D6ECC"/>
                </a:solidFill>
              </a:defRPr>
            </a:pPr>
            <a: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9944" y="3931920"/>
            <a:ext cx="5138928" cy="5120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4C3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defRPr sz="1050" b="1">
                <a:solidFill>
                  <a:srgbClr val="0B2C5B"/>
                </a:solidFill>
              </a:defRPr>
            </a:pPr>
            <a:r>
              <a:t>Step 3: Agentic Orchestration &amp; Routing</a:t>
            </a:r>
          </a:p>
          <a:p>
            <a:pPr>
              <a:defRPr sz="919">
                <a:solidFill>
                  <a:srgbClr val="212529"/>
                </a:solidFill>
              </a:defRPr>
            </a:pPr>
            <a:r>
              <a:t>Deterministic ModelRegistry routes strictly to verified specialist (Zero Hallucination)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87384" y="440740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D6ECC"/>
                </a:solidFill>
              </a:defRPr>
            </a:pPr>
            <a:r>
              <a:t>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9944" y="4626864"/>
            <a:ext cx="5138928" cy="512064"/>
          </a:xfrm>
          <a:prstGeom prst="roundRect">
            <a:avLst/>
          </a:prstGeom>
          <a:solidFill>
            <a:srgbClr val="F1F5FA"/>
          </a:solidFill>
          <a:ln w="15240">
            <a:solidFill>
              <a:srgbClr val="0D6E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defRPr sz="1050" b="1">
                <a:solidFill>
                  <a:srgbClr val="0B2C5B"/>
                </a:solidFill>
              </a:defRPr>
            </a:pPr>
            <a:r>
              <a:t>Step 4: Specialist AI &amp; Spectral Engines</a:t>
            </a:r>
          </a:p>
          <a:p>
            <a:pPr>
              <a:defRPr sz="919">
                <a:solidFill>
                  <a:srgbClr val="212529"/>
                </a:solidFill>
              </a:defRPr>
            </a:pPr>
            <a:r>
              <a:t>Runs BLIP VQA, Text Grounder, Change Detection, Optical+SAR Fusion, or Hydro-NDWI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87384" y="5102352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D6ECC"/>
                </a:solidFill>
              </a:defRPr>
            </a:pPr>
            <a: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9944" y="5321808"/>
            <a:ext cx="5138928" cy="5120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4C3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defRPr sz="1050" b="1">
                <a:solidFill>
                  <a:srgbClr val="0B2C5B"/>
                </a:solidFill>
              </a:defRPr>
            </a:pPr>
            <a:r>
              <a:t>Step 5: Interactive GIS Visualization &amp; Audit</a:t>
            </a:r>
          </a:p>
          <a:p>
            <a:pPr>
              <a:defRPr sz="919">
                <a:solidFill>
                  <a:srgbClr val="212529"/>
                </a:solidFill>
              </a:defRPr>
            </a:pPr>
            <a:r>
              <a:t>Renders MapLibre GL vector overlays, confidence score &amp; exportable audit log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1005840"/>
          </a:xfrm>
          <a:prstGeom prst="ellipse">
            <a:avLst/>
          </a:prstGeom>
          <a:solidFill>
            <a:srgbClr val="FFFFFF"/>
          </a:solidFill>
          <a:ln w="22860">
            <a:solidFill>
              <a:srgbClr val="8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12529"/>
                </a:solidFill>
              </a:defRPr>
            </a:pPr>
            <a:r>
              <a:t>Your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12529"/>
                </a:solidFill>
              </a:defRPr>
            </a:pPr>
            <a:r>
              <a:t>FEASIBILITY &amp;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164592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0B2C5B"/>
                </a:solidFill>
              </a:defRPr>
            </a:pPr>
            <a:r>
              <a:t>SMART INDIA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HACKATHON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D6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327648"/>
            <a:ext cx="1036289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FFFFFF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27648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5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 u="sng">
                <a:solidFill>
                  <a:srgbClr val="0D6ECC"/>
                </a:solidFill>
              </a:rPr>
              <a:t>❖ Feasibility, Challenges &amp; Mitigation Strategies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3611880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121408"/>
            <a:ext cx="3282696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2C5B"/>
                </a:solidFill>
              </a:defRPr>
            </a:pPr>
            <a:r>
              <a:t>• Analysis of the feasibility of the idea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Technical Feasibility: </a:t>
            </a:r>
            <a:r>
              <a:rPr sz="1019">
                <a:solidFill>
                  <a:srgbClr val="212529"/>
                </a:solidFill>
              </a:rPr>
              <a:t>Fully implemented and validated working prototype; successfully tested on BigEarthNet, Sentinel-1/2, and ISRO Resourcesat-2A rasters.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Operational Feasibility: </a:t>
            </a:r>
            <a:r>
              <a:rPr sz="1019">
                <a:solidFill>
                  <a:srgbClr val="212529"/>
                </a:solidFill>
              </a:rPr>
              <a:t>Zero paid third-party API dependencies; completely self-contained architecture deployable locally or on air-gapped on-premise servers.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Economic Viability: </a:t>
            </a:r>
            <a:r>
              <a:rPr sz="1019">
                <a:solidFill>
                  <a:srgbClr val="212529"/>
                </a:solidFill>
              </a:rPr>
              <a:t>Built 100% on open-source libraries (React, FastAPI, GDAL, PyTorch), eliminating expensive proprietary per-seat GIS licensing fees.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Hardware Accessibility: </a:t>
            </a:r>
            <a:r>
              <a:rPr sz="1019">
                <a:solidFill>
                  <a:srgbClr val="212529"/>
                </a:solidFill>
              </a:rPr>
              <a:t>Optimized models run smoothly on standard workstation CPUs without requiring multi-GPU enterprise server clusters.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2011680"/>
            <a:ext cx="3611880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2121408"/>
            <a:ext cx="3282696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2C5B"/>
                </a:solidFill>
              </a:defRPr>
            </a:pPr>
            <a:r>
              <a:t>• Potential challenges and risks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Data Heterogeneity: </a:t>
            </a:r>
            <a:r>
              <a:rPr sz="1019">
                <a:solidFill>
                  <a:srgbClr val="212529"/>
                </a:solidFill>
              </a:rPr>
              <a:t>Varying coordinate reference systems (UTM vs Geographic), spatial resolutions (5.8m to 20m), and band channel orders across satellites.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Atmospheric Obstruction: </a:t>
            </a:r>
            <a:r>
              <a:rPr sz="1019">
                <a:solidFill>
                  <a:srgbClr val="212529"/>
                </a:solidFill>
              </a:rPr>
              <a:t>Heavy monsoon cloud cover, shadowing, and haze frequently obscure critical optical satellite imagery during flood disasters.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SAR Speckle Noise: </a:t>
            </a:r>
            <a:r>
              <a:rPr sz="1019">
                <a:solidFill>
                  <a:srgbClr val="212529"/>
                </a:solidFill>
              </a:rPr>
              <a:t>Granular noise artifacts in radar backscatter can cause false alarms in land-cover classification and edge detection.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Hallucination Risk: </a:t>
            </a:r>
            <a:r>
              <a:rPr sz="1019">
                <a:solidFill>
                  <a:srgbClr val="212529"/>
                </a:solidFill>
              </a:rPr>
              <a:t>Generic commercial LLMs hallucinate inaccurate geo-features, nonexistent coordinates, and unverified confidence levels.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9872" y="2011680"/>
            <a:ext cx="3611880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2121408"/>
            <a:ext cx="3282696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2C5B"/>
                </a:solidFill>
              </a:defRPr>
            </a:pPr>
            <a:r>
              <a:t>• Strategies for overcoming these challenges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Automated Normalization: </a:t>
            </a:r>
            <a:r>
              <a:rPr sz="1019">
                <a:solidFill>
                  <a:srgbClr val="212529"/>
                </a:solidFill>
              </a:rPr>
              <a:t>MetadataExtractor &amp; RasterIngestor automatically detect CRS, reproject coordinates, and reorder spectral bands.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Optical + SAR Cross-Fusion: </a:t>
            </a:r>
            <a:r>
              <a:rPr sz="1019">
                <a:solidFill>
                  <a:srgbClr val="212529"/>
                </a:solidFill>
              </a:rPr>
              <a:t>Synthetic Aperture Radar (SAR) microwave pulses penetrate clouds and rain, ensuring uninterrupted disaster monitoring.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Dual-Polarization Thresholding: </a:t>
            </a:r>
            <a:r>
              <a:rPr sz="1019">
                <a:solidFill>
                  <a:srgbClr val="212529"/>
                </a:solidFill>
              </a:rPr>
              <a:t>Applies VV/VH backscatter ratio filtering and adaptive Otsu thresholding to suppress speckle and isolate water bodies.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Strict Capability Routing: </a:t>
            </a:r>
            <a:r>
              <a:rPr sz="1019">
                <a:solidFill>
                  <a:srgbClr val="212529"/>
                </a:solidFill>
              </a:rPr>
              <a:t>Deterministic agent orchestrator and specialized spectral index tools eliminate hallucinations completely.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1005840"/>
          </a:xfrm>
          <a:prstGeom prst="ellipse">
            <a:avLst/>
          </a:prstGeom>
          <a:solidFill>
            <a:srgbClr val="FFFFFF"/>
          </a:solidFill>
          <a:ln w="22860">
            <a:solidFill>
              <a:srgbClr val="8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12529"/>
                </a:solidFill>
              </a:defRPr>
            </a:pPr>
            <a:r>
              <a:t>Your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12529"/>
                </a:solidFill>
              </a:defRPr>
            </a:pPr>
            <a:r>
              <a:t>IMPACT &amp;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164592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0B2C5B"/>
                </a:solidFill>
              </a:defRPr>
            </a:pPr>
            <a:r>
              <a:t>SMART INDIA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HACKATHON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D6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327648"/>
            <a:ext cx="1036289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FFFFFF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27648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5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 u="sng">
                <a:solidFill>
                  <a:srgbClr val="0D6ECC"/>
                </a:solidFill>
              </a:rPr>
              <a:t>❖ Impact &amp; Benefits (Target Audience, Social &amp; Economic Value)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5504688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21408"/>
            <a:ext cx="5138928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C5B"/>
                </a:solidFill>
              </a:defRPr>
            </a:pPr>
            <a:r>
              <a:t>• Potential Impact on Target Audience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Disaster Response Teams (NDRF, SDMA): </a:t>
            </a:r>
            <a:r>
              <a:rPr sz="1019">
                <a:solidFill>
                  <a:srgbClr val="212529"/>
                </a:solidFill>
              </a:rPr>
              <a:t>Provides instant flood boundary maps and inundated area calculations (Hydro-NDWI in &lt;70ms) to prioritize life-saving rescue operations.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Water Resource Authorities (Ministry of Jal Shakti): </a:t>
            </a:r>
            <a:r>
              <a:rPr sz="1019">
                <a:solidFill>
                  <a:srgbClr val="212529"/>
                </a:solidFill>
              </a:rPr>
              <a:t>Enables automated monitoring of reservoir levels, seasonal surface water shrinkage, and wetland conservation without dedicated GIS teams.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Urban Planning &amp; Municipal Corporations: </a:t>
            </a:r>
            <a:r>
              <a:rPr sz="1019">
                <a:solidFill>
                  <a:srgbClr val="212529"/>
                </a:solidFill>
              </a:rPr>
              <a:t>Automatically detects illegal urban encroachments, built-up sprawl, and changes in green cover using NDBI and bi-temporal comparison.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Agricultural &amp; Drought Monitoring: </a:t>
            </a:r>
            <a:r>
              <a:rPr sz="1019">
                <a:solidFill>
                  <a:srgbClr val="212529"/>
                </a:solidFill>
              </a:rPr>
              <a:t>Tracks crop canopy variations, irrigation patterns, and drought stress via spectral index calculations and land-cover VQA.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Defense &amp; Coastal Maritime Security: </a:t>
            </a:r>
            <a:r>
              <a:rPr sz="1019">
                <a:solidFill>
                  <a:srgbClr val="212529"/>
                </a:solidFill>
              </a:rPr>
              <a:t>Detects marine vessels, coastal changes, and infrastructure expansions through day-and-night SAR object grounding.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2011680"/>
            <a:ext cx="5504688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2121408"/>
            <a:ext cx="5138928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C5B"/>
                </a:solidFill>
              </a:defRPr>
            </a:pPr>
            <a:r>
              <a:t>• Benefits of the Solution (Social, Commercial, Env.)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Social &amp; Humanitarian Impact: </a:t>
            </a:r>
            <a:r>
              <a:rPr sz="1019">
                <a:solidFill>
                  <a:srgbClr val="212529"/>
                </a:solidFill>
              </a:rPr>
              <a:t>Democratizes complex space technology. First responders can type plain-language queries and receive life-saving disaster maps in seconds.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Economic &amp; Cost Efficiency: </a:t>
            </a:r>
            <a:r>
              <a:rPr sz="1019">
                <a:solidFill>
                  <a:srgbClr val="212529"/>
                </a:solidFill>
              </a:rPr>
              <a:t>Reduces GIS workflow times by 95%; replaces expensive per-seat commercial GIS software licensing with an open-source, scalable platform.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Environmental Sustainability: </a:t>
            </a:r>
            <a:r>
              <a:rPr sz="1019">
                <a:solidFill>
                  <a:srgbClr val="212529"/>
                </a:solidFill>
              </a:rPr>
              <a:t>Provides continuous, objective ecological monitoring for deforestation, wetland depletion, and urban heat island mitigation.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National Self-Reliance (Atmanirbhar Bharat): </a:t>
            </a:r>
            <a:r>
              <a:rPr sz="1019">
                <a:solidFill>
                  <a:srgbClr val="212529"/>
                </a:solidFill>
              </a:rPr>
              <a:t>Natively leverages Indian space assets (ISRO Resourcesat, Cartosat, RISAT) via Bhoonidhi standards alongside global Sentinel constellations.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Scalability &amp; Commercial Potential: </a:t>
            </a:r>
            <a:r>
              <a:rPr sz="1019">
                <a:solidFill>
                  <a:srgbClr val="212529"/>
                </a:solidFill>
              </a:rPr>
              <a:t>Easily extensible to state-wide disaster management portals, smart cities, and private environmental audit firms.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" y="164592"/>
            <a:ext cx="1691640" cy="1005840"/>
          </a:xfrm>
          <a:prstGeom prst="ellipse">
            <a:avLst/>
          </a:prstGeom>
          <a:solidFill>
            <a:srgbClr val="FFFFFF"/>
          </a:solidFill>
          <a:ln w="22860">
            <a:solidFill>
              <a:srgbClr val="800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12529"/>
                </a:solidFill>
              </a:defRPr>
            </a:pPr>
            <a:r>
              <a:t>Your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Team</a:t>
            </a:r>
          </a:p>
          <a:p>
            <a:pPr algn="ctr">
              <a:defRPr sz="1100" b="1">
                <a:solidFill>
                  <a:srgbClr val="212529"/>
                </a:solidFill>
              </a:defRPr>
            </a:pPr>
            <a:r>
              <a:t>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56032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212529"/>
                </a:solidFill>
              </a:defRPr>
            </a:pPr>
            <a:r>
              <a:t>RESEARCH &amp;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0" y="164592"/>
            <a:ext cx="2011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0B2C5B"/>
                </a:solidFill>
              </a:defRPr>
            </a:pPr>
            <a:r>
              <a:t>SMART INDIA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HACKATHON</a:t>
            </a:r>
          </a:p>
          <a:p>
            <a:pPr algn="r">
              <a:defRPr sz="1400" b="1">
                <a:solidFill>
                  <a:srgbClr val="0B2C5B"/>
                </a:solidFill>
              </a:defRPr>
            </a:pPr>
            <a:r>
              <a:t>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0D6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327648"/>
            <a:ext cx="1036289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FFFFFF"/>
                </a:solidFill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327648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5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 u="sng">
                <a:solidFill>
                  <a:srgbClr val="0D6ECC"/>
                </a:solidFill>
              </a:rPr>
              <a:t>❖ Research, Benchmarks &amp; Geospatial Standards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5504688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21408"/>
            <a:ext cx="5138928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C5B"/>
                </a:solidFill>
              </a:defRPr>
            </a:pPr>
            <a:r>
              <a:t>• Prescribed Datasets &amp; Benchmarks Used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1. BigEarthNet (Sentinel-1 &amp; Sentinel-2): </a:t>
            </a:r>
            <a:r>
              <a:rPr sz="1019">
                <a:solidFill>
                  <a:srgbClr val="212529"/>
                </a:solidFill>
              </a:rPr>
              <a:t>590,326 multi-spectral patches annotated with CORINE Land Cover (CLC) classes. Used for fine-tuning our BLIP VQA checkpoint (100% token F1 on test split). Reference: Sumbul et al., IEEE IGARSS 2019 / arXiv:1902.06148.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2. RSVQA (Remote Sensing Visual Question Answering): </a:t>
            </a:r>
            <a:r>
              <a:rPr sz="1019">
                <a:solidFill>
                  <a:srgbClr val="212529"/>
                </a:solidFill>
              </a:rPr>
              <a:t>High-resolution aerial (RSVQA-HR) and low-resolution Sentinel-2 (RSVQA-LR) benchmarks establishing baseline QA accuracy. Reference: Lobry et al., IEEE TGRS 2020.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3. VRSBench (Visual Reasoning in Remote Sensing): </a:t>
            </a:r>
            <a:r>
              <a:rPr sz="1019">
                <a:solidFill>
                  <a:srgbClr val="212529"/>
                </a:solidFill>
              </a:rPr>
              <a:t>Standardized benchmark for dense captioning, natural-language object grounding, and spatial reasoning. Reference: Li et al., IEEE TGRS 2024.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4. CDVQA (Change Detection Visual QA): </a:t>
            </a:r>
            <a:r>
              <a:rPr sz="1019">
                <a:solidFill>
                  <a:srgbClr val="212529"/>
                </a:solidFill>
              </a:rPr>
              <a:t>Bi-temporal remote-sensing dataset for evaluating multi-temporal change detection through questions. Reference: Yuan et al., IEEE GRSL 2022.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2011680"/>
            <a:ext cx="5504688" cy="406908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2121408"/>
            <a:ext cx="5138928" cy="3849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C5B"/>
                </a:solidFill>
              </a:defRPr>
            </a:pPr>
            <a:r>
              <a:t>• Sensor Specifications &amp; Geospatial Standards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5. ISRO / SAC Mission Standards: </a:t>
            </a:r>
            <a:r>
              <a:rPr sz="1019">
                <a:solidFill>
                  <a:srgbClr val="212529"/>
                </a:solidFill>
              </a:rPr>
              <a:t>Resourcesat-2/2A LISS-4 (5.8m multispectral), Cartosat-1/2S/3 high-resolution terrain mapping, and RISAT-1A (EOS-04 C-band SAR). Ingested via NRSC Bhoonidhi OpenSearch/STAC APIs.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6. ESA Copernicus Constellations: </a:t>
            </a:r>
            <a:r>
              <a:rPr sz="1019">
                <a:solidFill>
                  <a:srgbClr val="212529"/>
                </a:solidFill>
              </a:rPr>
              <a:t>Sentinel-1 (C-band SAR radar, dual-pol VV/VH) and Sentinel-2 (13-band MSI, 10m/20m multispectral). Ingested via Copernicus Data Space Ecosystem (CDSE) OData v4 APIs.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7. Remote Sensing Spectral Indices: </a:t>
            </a:r>
            <a:r>
              <a:rPr sz="1019">
                <a:solidFill>
                  <a:srgbClr val="212529"/>
                </a:solidFill>
              </a:rPr>
              <a:t>Normalized Difference Water Index (NDWI) by McFeeters (1996) and Normalized Difference Built-Up Index (NDBI) by Zha et al. (2003).</a:t>
            </a:r>
          </a:p>
          <a:p>
            <a:pPr>
              <a:spcBef>
                <a:spcPts val="700"/>
              </a:spcBef>
            </a:pPr>
            <a:r>
              <a:rPr b="1" sz="1019">
                <a:solidFill>
                  <a:srgbClr val="212529"/>
                </a:solidFill>
              </a:rPr>
              <a:t>• 8. Geospatial Data Standards: </a:t>
            </a:r>
            <a:r>
              <a:rPr sz="1019">
                <a:solidFill>
                  <a:srgbClr val="212529"/>
                </a:solidFill>
              </a:rPr>
              <a:t>Complies with Open Geospatial Consortium (OGC) specifications, SpatioTemporal Asset Catalog (STAC), GeoTIFF metadata, and EPSG Coordinate Reference Systems.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