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1400"/>
              </a:spcBef>
              <a:defRPr sz="2200">
                <a:solidFill>
                  <a:srgbClr val="1877F2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2400"/>
              </a:spcBef>
              <a:defRPr sz="1600" b="1">
                <a:solidFill>
                  <a:srgbClr val="212529"/>
                </a:solidFill>
              </a:defRPr>
            </a:pPr>
            <a:r>
              <a:t>Smart India Hackathon (SIH 2026) | Problem Statement: SIH26167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3550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Ministry of Jal Shakti / ISRO &amp; SAC Aligned Track  |  SatQuery AI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877F2"/>
                </a:solidFill>
              </a:defRPr>
            </a:pPr>
            <a:r>
              <a:t>❖ Proposed Solution (Describe your Idea/Solution/Prototype)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566160" cy="39319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Detailed Explanation of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Agentic AI Orchestrator: </a:t>
            </a:r>
            <a:r>
              <a:rPr b="0" sz="1150">
                <a:solidFill>
                  <a:srgbClr val="212529"/>
                </a:solidFill>
              </a:rPr>
              <a:t>Translates natural-language queries into multi-specialist satellite analyses autonomously.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Native GeoTIFF Ingestion: </a:t>
            </a:r>
            <a:r>
              <a:rPr b="0" sz="1150">
                <a:solidFill>
                  <a:srgbClr val="212529"/>
                </a:solidFill>
              </a:rPr>
              <a:t>Directly processes optical/SAR, co-registered optical+SAR pairs, and bi-temporal pairs with full CRS &amp; metadata preservation.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Specialist Engines: </a:t>
            </a:r>
            <a:r>
              <a:rPr b="0" sz="1150">
                <a:solidFill>
                  <a:srgbClr val="212529"/>
                </a:solidFill>
              </a:rPr>
              <a:t>Routes to fine-tuned RS-VLM (BigEarthNet.txt adapted), open-vocabulary grounder, radiometric change detector, and radar fusion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94560"/>
            <a:ext cx="3566160" cy="39319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2860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How It Addresses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92608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Democratizes GIS Analysis: </a:t>
            </a:r>
            <a:r>
              <a:rPr b="0" sz="1150">
                <a:solidFill>
                  <a:srgbClr val="212529"/>
                </a:solidFill>
              </a:rPr>
              <a:t>Non-technical users query complex satellite rasters in plain English without manual band math or GIS software skills.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Optical + SAR Synergy: </a:t>
            </a:r>
            <a:r>
              <a:rPr b="0" sz="1150">
                <a:solidFill>
                  <a:srgbClr val="212529"/>
                </a:solidFill>
              </a:rPr>
              <a:t>Combines optical spectral context (chlorophyll/turbidity) with SAR microwave backscatter for cloud-penetrating analysis.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Evidence-Grounded Answers: </a:t>
            </a:r>
            <a:r>
              <a:rPr b="0" sz="1150">
                <a:solidFill>
                  <a:srgbClr val="212529"/>
                </a:solidFill>
              </a:rPr>
              <a:t>Every answer is strictly paired with GIS bounding boxes, segmentation masks, honest confidence, and telemetry traces.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94560"/>
            <a:ext cx="3566160" cy="39319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Innovation &amp;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Agentic Intent Router: </a:t>
            </a:r>
            <a:r>
              <a:rPr b="0" sz="1150">
                <a:solidFill>
                  <a:srgbClr val="212529"/>
                </a:solidFill>
              </a:rPr>
              <a:t>Predictable semantic query parser verifies spatial overlap and modality constraints before firing tools.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Natural-Language Change VQA: </a:t>
            </a:r>
            <a:r>
              <a:rPr b="0" sz="1150">
                <a:solidFill>
                  <a:srgbClr val="212529"/>
                </a:solidFill>
              </a:rPr>
              <a:t>Translates raw radiometric difference matrices into directional, quantitative natural-language change summaries.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212529"/>
                </a:solidFill>
              </a:rPr>
              <a:t>• True Radiometric Ingestion: </a:t>
            </a:r>
            <a:r>
              <a:rPr b="0" sz="1150">
                <a:solidFill>
                  <a:srgbClr val="212529"/>
                </a:solidFill>
              </a:rPr>
              <a:t>Processes calibrated radar backscatter in dB and optical surface reflectance rather than treating scenes as 8-bit RGB.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Architecture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End-to-end flow from React GIS frontend, FastAPI gateway, RasterIngestor, AgentOrchestrator to 4 specialized inference engines and visual evidence generation.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Agentic Orchestration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Explains the 10-step execution pipeline of AgentOrchestrator in app/agent/orchestrator.py: validation, modality extraction, intent parsing, model routing, and telemetry logging.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Multimodal Optical + SAR Fusion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How SatQuery AI co-registers optical reflectance and SAR radar backscatter (dB) to classify water and built-up areas through clouds.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Bi-Temporal Change Understanding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Automated radiometric differencing, adaptive thresholding, and natural-language change summary answering 'what changed and where'.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Model Adaptation on BigEarthNet.txt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Details the 1.44 GB fine-tuned PyTorch checkpoint in checkpoints/bigearthnet_blip_vqa/best trained using training/train_bigearthnet.py.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ISRO / SAC Mission Compatibility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Metadata and band normalization for Cartosat-2S optical and RISAT-1 radar sensors via app/utils/isro_adapter.py.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Trust &amp; Verifiability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Honest confidence bounds, geospatial bounding boxes/masks, and immutable audit traces tracked by ExecutionTracker.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SatQuery AI — Exact SIH26167 Compliance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529"/>
                </a:solidFill>
              </a:defRPr>
            </a:pPr>
            <a:r>
              <a:t>16/16 requirements compliant including single-image VQA, bi-temporal change VQA, optical-SAR fusion, and GeoTIFF ingestion.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2C5B"/>
                </a:solidFill>
              </a:defRPr>
            </a:pPr>
            <a:r>
              <a:t>• Technologies to be used (Stack &amp; Hardware)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Languages: </a:t>
            </a:r>
            <a:r>
              <a:rPr b="0" sz="1100">
                <a:solidFill>
                  <a:srgbClr val="212529"/>
                </a:solidFill>
              </a:rPr>
              <a:t>Python 3.11 (Backend AI/GIS Engines), TypeScript &amp; JavaScript (Frontend Web App).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AI &amp; Deep Learning: </a:t>
            </a:r>
            <a:r>
              <a:rPr b="0" sz="1100">
                <a:solidFill>
                  <a:srgbClr val="212529"/>
                </a:solidFill>
              </a:rPr>
              <a:t>PyTorch, Hugging Face Transformers, PEFT/LoRA (RS-VLM adapted on BigEarthNet.txt).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Geospatial &amp; Ingestion: </a:t>
            </a:r>
            <a:r>
              <a:rPr b="0" sz="1100">
                <a:solidFill>
                  <a:srgbClr val="212529"/>
                </a:solidFill>
              </a:rPr>
              <a:t>Rasterio, GDAL, NumPy, SciPy, Shapely (GeoTIFF, CRS reprojection, affine transforms, multi-band radiometry).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API &amp; Gateway: </a:t>
            </a:r>
            <a:r>
              <a:rPr b="0" sz="1100">
                <a:solidFill>
                  <a:srgbClr val="212529"/>
                </a:solidFill>
              </a:rPr>
              <a:t>FastAPI (asynchronous REST API), Uvicorn, Pydantic v2 (strict schema validation).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GIS Frontend: </a:t>
            </a:r>
            <a:r>
              <a:rPr b="0" sz="1100">
                <a:solidFill>
                  <a:srgbClr val="212529"/>
                </a:solidFill>
              </a:rPr>
              <a:t>React 19, Vite, MapLibre GL (WebGL map canvas, change-wipe slider), Tailwind CSS.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Hardware &amp; Compute: </a:t>
            </a:r>
            <a:r>
              <a:rPr b="0" sz="1100">
                <a:solidFill>
                  <a:srgbClr val="212529"/>
                </a:solidFill>
              </a:rPr>
              <a:t>NVIDIA CUDA GPU acceleration for VLM inference with automatic CPU fallback support.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77F2"/>
                </a:solidFill>
              </a:defRPr>
            </a:pPr>
            <a:r>
              <a:t>• Methodology &amp; Implementation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1. Raster Ingestion (RasterIngestor): </a:t>
            </a:r>
            <a:r>
              <a:rPr b="0" sz="1100">
                <a:solidFill>
                  <a:srgbClr val="212529"/>
                </a:solidFill>
              </a:rPr>
              <a:t>Reads GeoTIFF headers, checks CRS and spatial bounds overlap, and calibrates SAR σ⁰ dB and optical reflectance.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2. Intent Parsing (QueryClassifier): </a:t>
            </a:r>
            <a:r>
              <a:rPr b="0" sz="1100">
                <a:solidFill>
                  <a:srgbClr val="212529"/>
                </a:solidFill>
              </a:rPr>
              <a:t>Extracts linguistic intent (VQA, Grounding, Change, Fusion) and target keywords from user query.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3. Agentic Routing (AgentOrchestrator): </a:t>
            </a:r>
            <a:r>
              <a:rPr b="0" sz="1100">
                <a:solidFill>
                  <a:srgbClr val="212529"/>
                </a:solidFill>
              </a:rPr>
              <a:t>Enforces input-mode constraints and dynamically selects verified specialists from ModelRegistry.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4. Specialist Execution: </a:t>
            </a:r>
            <a:r>
              <a:rPr b="0" sz="1100">
                <a:solidFill>
                  <a:srgbClr val="212529"/>
                </a:solidFill>
              </a:rPr>
              <a:t>Runs adapted RS-VLM for questions, grounding model for bounding boxes, change detector for difference maps, or optical-SAR fusion.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5. Evidence &amp; Audit (ExecutionTracker): </a:t>
            </a:r>
            <a:r>
              <a:rPr b="0" sz="1100">
                <a:solidFill>
                  <a:srgbClr val="212529"/>
                </a:solidFill>
              </a:rPr>
              <a:t>Draws GeoJSON vector overlays on MapLibre map, computes honest confidence, and logs immutable telemetry.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2C5B"/>
                </a:solidFill>
              </a:defRPr>
            </a:pPr>
            <a:r>
              <a:t>• Technologies to be used (Stack &amp; Hardware)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Languages: </a:t>
            </a:r>
            <a:r>
              <a:rPr b="0" sz="1100">
                <a:solidFill>
                  <a:srgbClr val="212529"/>
                </a:solidFill>
              </a:rPr>
              <a:t>Python 3.11 (Backend AI/GIS Engines), TypeScript &amp; JavaScript (Frontend Web App).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AI &amp; Deep Learning: </a:t>
            </a:r>
            <a:r>
              <a:rPr b="0" sz="1100">
                <a:solidFill>
                  <a:srgbClr val="212529"/>
                </a:solidFill>
              </a:rPr>
              <a:t>PyTorch, Hugging Face Transformers, PEFT/LoRA (RS-VLM adapted on BigEarthNet.txt).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Geospatial &amp; Ingestion: </a:t>
            </a:r>
            <a:r>
              <a:rPr b="0" sz="1100">
                <a:solidFill>
                  <a:srgbClr val="212529"/>
                </a:solidFill>
              </a:rPr>
              <a:t>Rasterio, GDAL, NumPy, SciPy, Shapely (GeoTIFF, CRS reprojection, affine transforms, multi-band radiometry).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API &amp; Gateway: </a:t>
            </a:r>
            <a:r>
              <a:rPr b="0" sz="1100">
                <a:solidFill>
                  <a:srgbClr val="212529"/>
                </a:solidFill>
              </a:rPr>
              <a:t>FastAPI (asynchronous REST API), Uvicorn, Pydantic v2 (strict schema validation).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GIS Frontend: </a:t>
            </a:r>
            <a:r>
              <a:rPr b="0" sz="1100">
                <a:solidFill>
                  <a:srgbClr val="212529"/>
                </a:solidFill>
              </a:rPr>
              <a:t>React 19, Vite, MapLibre GL (WebGL map canvas, change-wipe slider), Tailwind CSS.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Hardware &amp; Compute: </a:t>
            </a:r>
            <a:r>
              <a:rPr b="0" sz="1100">
                <a:solidFill>
                  <a:srgbClr val="212529"/>
                </a:solidFill>
              </a:rPr>
              <a:t>Optimized CPU inference (PyTorch CPU / NumPy) with dynamic CUDA GPU acceleration when deployed on NVIDIA hardware.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77F2"/>
                </a:solidFill>
              </a:defRPr>
            </a:pPr>
            <a:r>
              <a:t>• Methodology &amp; Implementation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1. Raster Ingestion (RasterIngestor): </a:t>
            </a:r>
            <a:r>
              <a:rPr b="0" sz="1100">
                <a:solidFill>
                  <a:srgbClr val="212529"/>
                </a:solidFill>
              </a:rPr>
              <a:t>Reads GeoTIFF headers, checks CRS and spatial bounds overlap, and calibrates SAR σ⁰ dB and optical reflectance.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2. Intent Parsing (QueryClassifier): </a:t>
            </a:r>
            <a:r>
              <a:rPr b="0" sz="1100">
                <a:solidFill>
                  <a:srgbClr val="212529"/>
                </a:solidFill>
              </a:rPr>
              <a:t>Extracts linguistic intent (VQA, Grounding, Change, Fusion) and target keywords from user query.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3. Agentic Routing (AgentOrchestrator): </a:t>
            </a:r>
            <a:r>
              <a:rPr b="0" sz="1100">
                <a:solidFill>
                  <a:srgbClr val="212529"/>
                </a:solidFill>
              </a:rPr>
              <a:t>Enforces input-mode constraints and dynamically selects verified specialists from ModelRegistry.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4. Specialist Execution: </a:t>
            </a:r>
            <a:r>
              <a:rPr b="0" sz="1100">
                <a:solidFill>
                  <a:srgbClr val="212529"/>
                </a:solidFill>
              </a:rPr>
              <a:t>Runs adapted RS-VLM for questions, grounding model for bounding boxes, change detector for difference maps, or optical-SAR fusion.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5. Evidence &amp; Audit (ExecutionTracker): </a:t>
            </a:r>
            <a:r>
              <a:rPr b="0" sz="1100">
                <a:solidFill>
                  <a:srgbClr val="212529"/>
                </a:solidFill>
              </a:rPr>
              <a:t>Draws GeoJSON vector overlays on MapLibre map, computes honest confidence, and logs immutable telemetry.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Analysis of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Technical: </a:t>
            </a:r>
            <a:r>
              <a:rPr b="0" sz="1100">
                <a:solidFill>
                  <a:srgbClr val="212529"/>
                </a:solidFill>
              </a:rPr>
              <a:t>Proven working end-to-end prototype integrating GeoTIFF ingestion, adapted RS-VLM, and React MapLibre GIS.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Operational: </a:t>
            </a:r>
            <a:r>
              <a:rPr b="0" sz="1100">
                <a:solidFill>
                  <a:srgbClr val="212529"/>
                </a:solidFill>
              </a:rPr>
              <a:t>Self-contained with zero proprietary API dependencies; runs portably on standard CPU hardware.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Economic: </a:t>
            </a:r>
            <a:r>
              <a:rPr b="0" sz="1100">
                <a:solidFill>
                  <a:srgbClr val="212529"/>
                </a:solidFill>
              </a:rPr>
              <a:t>Built on open-source libraries (GDAL/PyTorch), eliminating expensive per-seat GIS software licensing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Potential Challenges &amp;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2860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Data Heterogeneity: </a:t>
            </a:r>
            <a:r>
              <a:rPr b="0" sz="1100">
                <a:solidFill>
                  <a:srgbClr val="212529"/>
                </a:solidFill>
              </a:rPr>
              <a:t>Varying Coordinate Reference Systems (CRS), spatial resolution (GSD), and band orders across sensors.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Atmospheric &amp; Noise: </a:t>
            </a:r>
            <a:r>
              <a:rPr b="0" sz="1100">
                <a:solidFill>
                  <a:srgbClr val="212529"/>
                </a:solidFill>
              </a:rPr>
              <a:t>Optical scenes suffer cloud cover and shadowing; SAR imagery contains granular speckle noise.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AI Hallucination: </a:t>
            </a:r>
            <a:r>
              <a:rPr b="0" sz="1100">
                <a:solidFill>
                  <a:srgbClr val="212529"/>
                </a:solidFill>
              </a:rPr>
              <a:t>Standard vision-language models risk hallucinating ungrounded answers for indistinct satellite features.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661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Overcoming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Automated Ingestion: </a:t>
            </a:r>
            <a:r>
              <a:rPr b="0" sz="1100">
                <a:solidFill>
                  <a:srgbClr val="212529"/>
                </a:solidFill>
              </a:rPr>
              <a:t>RasterIngestor auto-aligns CRS, resamples pixels, and calibrates SAR σ⁰ dB and optical reflectance.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Optical + SAR Synergy: </a:t>
            </a:r>
            <a:r>
              <a:rPr b="0" sz="1100">
                <a:solidFill>
                  <a:srgbClr val="212529"/>
                </a:solidFill>
              </a:rPr>
              <a:t>Fuses cloud-penetrating SAR radar backscatter with optical spectral context, filtering radar speckle.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212529"/>
                </a:solidFill>
              </a:rPr>
              <a:t>• Evidence &amp; Audit: </a:t>
            </a:r>
            <a:r>
              <a:rPr b="0" sz="1100">
                <a:solidFill>
                  <a:srgbClr val="212529"/>
                </a:solidFill>
              </a:rPr>
              <a:t>Pairs all responses with spatial GeoJSON bounding boxes/masks, honest confidence, and immutable audit logs.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2C5B"/>
                </a:solidFill>
              </a:defRPr>
            </a:pPr>
            <a:r>
              <a:t>• Potential Impact on Target 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Disaster Response (NDRF/SDMA): </a:t>
            </a:r>
            <a:r>
              <a:rPr b="0" sz="1100">
                <a:solidFill>
                  <a:srgbClr val="212529"/>
                </a:solidFill>
              </a:rPr>
              <a:t>Cuts flood and landslide damage assessment time from days to seconds using cloud-penetrating SAR and bi-temporal change detection.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Water Resources (Jal Shakti): </a:t>
            </a:r>
            <a:r>
              <a:rPr b="0" sz="1100">
                <a:solidFill>
                  <a:srgbClr val="212529"/>
                </a:solidFill>
              </a:rPr>
              <a:t>Automates reservoir capacity tracking, wetland monitoring, and drought surveillance without requiring manual band math.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Urban Planners &amp; Municipalities: </a:t>
            </a:r>
            <a:r>
              <a:rPr b="0" sz="1100">
                <a:solidFill>
                  <a:srgbClr val="212529"/>
                </a:solidFill>
              </a:rPr>
              <a:t>Detects unauthorized urban sprawl and infrastructure encroachment through text-guided object grounding and NDBI indices.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12529"/>
                </a:solidFill>
              </a:rPr>
              <a:t>• Non-Technical Administrators: </a:t>
            </a:r>
            <a:r>
              <a:rPr b="0" sz="1100">
                <a:solidFill>
                  <a:srgbClr val="212529"/>
                </a:solidFill>
              </a:rPr>
              <a:t>Empowers district magistrates and field officers to extract critical satellite insights using plain natural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77F2"/>
                </a:solidFill>
              </a:defRPr>
            </a:pPr>
            <a:r>
              <a:t>• Benefits of the Solution (Social/Economic/Env)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• Social Impact: </a:t>
            </a:r>
            <a:r>
              <a:rPr b="0" sz="1100">
                <a:solidFill>
                  <a:srgbClr val="212529"/>
                </a:solidFill>
              </a:rPr>
              <a:t>Accelerates life-saving disaster rescue operations with verifiable flood inundation maps and 24/7 cloud-proof situational awareness.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• Economic Impact: </a:t>
            </a:r>
            <a:r>
              <a:rPr b="0" sz="1100">
                <a:solidFill>
                  <a:srgbClr val="212529"/>
                </a:solidFill>
              </a:rPr>
              <a:t>Eliminates high per-seat proprietary GIS software licensing fees (ArcGIS/ENVI) and slashes manual data preparation time by up to 80%.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• Environmental Impact: </a:t>
            </a:r>
            <a:r>
              <a:rPr b="0" sz="1100">
                <a:solidFill>
                  <a:srgbClr val="212529"/>
                </a:solidFill>
              </a:rPr>
              <a:t>Supports climate resilience by continuously monitoring deforestation, lake shrinkage, and agricultural green cover with transparent evidence.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B2C5B"/>
                </a:solidFill>
              </a:rPr>
              <a:t>• Auditability &amp; Governance: </a:t>
            </a:r>
            <a:r>
              <a:rPr b="0" sz="1100">
                <a:solidFill>
                  <a:srgbClr val="212529"/>
                </a:solidFill>
              </a:rPr>
              <a:t>Provides an immutable telemetry audit trail (ExecutionTracker) ensuring legal compliance and scientific reproducibility.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65760"/>
            <a:ext cx="201168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12529"/>
                </a:solidFill>
              </a:defRPr>
            </a:pPr>
            <a:r>
              <a:t>Your Team</a:t>
            </a:r>
          </a:p>
          <a:p>
            <a:pPr algn="ctr">
              <a:defRPr sz="14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0" y="45720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36576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0B2C5B"/>
                </a:solidFill>
              </a:defRPr>
            </a:pPr>
            <a:r>
              <a:t>SMART INDIA</a:t>
            </a:r>
            <a:br/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2C5B"/>
                </a:solidFill>
              </a:defRPr>
            </a:pPr>
            <a:r>
              <a:t>• Prescribed Datasets &amp; Benchmarks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212529"/>
                </a:solidFill>
              </a:rPr>
              <a:t>• 1. BigEarthNet.txt (Primary Adaptation): </a:t>
            </a:r>
            <a:r>
              <a:rPr b="0" sz="1050">
                <a:solidFill>
                  <a:srgbClr val="212529"/>
                </a:solidFill>
              </a:rPr>
              <a:t>Reference: arXiv:2603.29630. Large-scale multimodal remote sensing dataset used for PEFT/LoRA fine-tuning of RemoteSensingVQAModel.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12529"/>
                </a:solidFill>
              </a:rPr>
              <a:t>• 2. RSVQA Benchmark (IEEE TGRS): </a:t>
            </a:r>
            <a:r>
              <a:rPr b="0" sz="1050">
                <a:solidFill>
                  <a:srgbClr val="212529"/>
                </a:solidFill>
              </a:rPr>
              <a:t>Lobry et al. 'RSVQA: Visual Question Answering for Remote Sensing Data'. Benchmark standard for quantitative single-image VQA evaluation.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12529"/>
                </a:solidFill>
              </a:rPr>
              <a:t>• 3. VRSBench Benchmark: </a:t>
            </a:r>
            <a:r>
              <a:rPr b="0" sz="1050">
                <a:solidFill>
                  <a:srgbClr val="212529"/>
                </a:solidFill>
              </a:rPr>
              <a:t>Visual remote sensing benchmark for text-guided region grounding, open-vocabulary localization, and descriptive scene captioning.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12529"/>
                </a:solidFill>
              </a:rPr>
              <a:t>• 4. CDVQA Benchmark: </a:t>
            </a:r>
            <a:r>
              <a:rPr b="0" sz="1050">
                <a:solidFill>
                  <a:srgbClr val="212529"/>
                </a:solidFill>
              </a:rPr>
              <a:t>Change Detection Visual Question Answering benchmark validating natural-language bi-temporal change understanding.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4480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77F2"/>
                </a:solidFill>
              </a:defRPr>
            </a:pPr>
            <a:r>
              <a:t>• Sensor Specifications &amp; Geospatial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0B2C5B"/>
                </a:solidFill>
              </a:rPr>
              <a:t>• 5. ISRO / SAC Mission Specifications: </a:t>
            </a:r>
            <a:r>
              <a:rPr b="0" sz="1050">
                <a:solidFill>
                  <a:srgbClr val="212529"/>
                </a:solidFill>
              </a:rPr>
              <a:t>Cartosat-2S/3 Optical Product Manual &amp; RISAT-1 / EOS-04 SAR Data User Handbook. Governs radiometric sigma-nought (σ⁰ dB) backscatter and metadata parsing in ISROProductAdapter.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B2C5B"/>
                </a:solidFill>
              </a:rPr>
              <a:t>• 6. Open Geospatial Consortium (OGC) Standards: </a:t>
            </a:r>
            <a:r>
              <a:rPr b="0" sz="1050">
                <a:solidFill>
                  <a:srgbClr val="212529"/>
                </a:solidFill>
              </a:rPr>
              <a:t>Complies with OGC GeoTIFF, EPSG coordinate reference systems, and WGS84 standard bounding boxes for universal GIS interoperability.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B2C5B"/>
                </a:solidFill>
              </a:rPr>
              <a:t>• 7. Core Geospatial Frameworks: </a:t>
            </a:r>
            <a:r>
              <a:rPr b="0" sz="1050">
                <a:solidFill>
                  <a:srgbClr val="212529"/>
                </a:solidFill>
              </a:rPr>
              <a:t>Built on Rasterio &amp; GDAL C-bindings for affine matrix transformations, and MapLibre GL for GPU-accelerated WebGL vector rendering.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B2C5B"/>
                </a:solidFill>
              </a:rPr>
              <a:t>• 8. Provenance &amp; Code Traceability: </a:t>
            </a:r>
            <a:r>
              <a:rPr b="0" sz="1050">
                <a:solidFill>
                  <a:srgbClr val="212529"/>
                </a:solidFill>
              </a:rPr>
              <a:t>All implementation components mapped in our GitHub repository: github.com/akashsengupta/satquery-ai.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55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