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Technical: </a:t>
            </a:r>
            <a:r>
              <a:rPr sz="1019">
                <a:solidFill>
                  <a:srgbClr val="212529"/>
                </a:solidFill>
              </a:rPr>
              <a:t>Proven working prototype tested on Sentinel-1/2, BigEarthNet, and ISRO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Operational: </a:t>
            </a:r>
            <a:r>
              <a:rPr sz="1019">
                <a:solidFill>
                  <a:srgbClr val="212529"/>
                </a:solidFill>
              </a:rPr>
              <a:t>100% self-contained; zero paid API dependencies; works offline/air-gapped.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Economic: </a:t>
            </a:r>
            <a:r>
              <a:rPr sz="1019">
                <a:solidFill>
                  <a:srgbClr val="212529"/>
                </a:solidFill>
              </a:rPr>
              <a:t>Open-source stack (GDAL, PyTorch); eliminates expensive per-seat GIS software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Hardware: </a:t>
            </a:r>
            <a:r>
              <a:rPr sz="1019">
                <a:solidFill>
                  <a:srgbClr val="212529"/>
                </a:solidFill>
              </a:rPr>
              <a:t>Runs smoothly on standard CPUs (&lt;300ms) with optional CUDA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and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CRS projections, resolutions (5.8m–20m), and band orders.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Weather &amp; Clouds: </a:t>
            </a:r>
            <a:r>
              <a:rPr sz="1019">
                <a:solidFill>
                  <a:srgbClr val="212529"/>
                </a:solidFill>
              </a:rPr>
              <a:t>Monsoon cloud cover and haze obscure critical optical satellite imagery.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Radar backscatter noise artifacts causing false detection alarms.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AI Hallucination: </a:t>
            </a:r>
            <a:r>
              <a:rPr sz="1019">
                <a:solidFill>
                  <a:srgbClr val="212529"/>
                </a:solidFill>
              </a:rPr>
              <a:t>Generic LLMs inventing ungrounded coordinates and false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for overcoming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Auto-Normalization: </a:t>
            </a:r>
            <a:r>
              <a:rPr sz="1019">
                <a:solidFill>
                  <a:srgbClr val="212529"/>
                </a:solidFill>
              </a:rPr>
              <a:t>Ingestor auto-detects CRS, aligns projections, and standardizes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Fusion: </a:t>
            </a:r>
            <a:r>
              <a:rPr sz="1019">
                <a:solidFill>
                  <a:srgbClr val="212529"/>
                </a:solidFill>
              </a:rPr>
              <a:t>Radar microwaves pierce clouds and rain for 24/7 all-weather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Speckle Filtering: </a:t>
            </a:r>
            <a:r>
              <a:rPr sz="1019">
                <a:solidFill>
                  <a:srgbClr val="212529"/>
                </a:solidFill>
              </a:rPr>
              <a:t>VV/VH dual-polarization filtering and adaptive Otsu thresholding.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Deterministic Routing: </a:t>
            </a:r>
            <a:r>
              <a:rPr sz="1019">
                <a:solidFill>
                  <a:srgbClr val="212529"/>
                </a:solidFill>
              </a:rPr>
              <a:t>Grounded pixel masks, audit logs, and calibrated confidence (84–98%).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Potential impact on the target audience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Disaster Response (NDRF/SDMA): </a:t>
            </a:r>
            <a:r>
              <a:rPr sz="1050">
                <a:solidFill>
                  <a:srgbClr val="212529"/>
                </a:solidFill>
              </a:rPr>
              <a:t>Instant flood extent boundaries &amp; affected area stats (&lt;70ms) to prioritize rescues.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Water Authorities (Jal Shakti): </a:t>
            </a:r>
            <a:r>
              <a:rPr sz="1050">
                <a:solidFill>
                  <a:srgbClr val="212529"/>
                </a:solidFill>
              </a:rPr>
              <a:t>Automates reservoir tracking and wetland depletion monitoring without GIS staff.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Urban Municipalities: </a:t>
            </a:r>
            <a:r>
              <a:rPr sz="1050">
                <a:solidFill>
                  <a:srgbClr val="212529"/>
                </a:solidFill>
              </a:rPr>
              <a:t>Detects unauthorized built-up sprawl and green cover loss via bi-temporal change maps.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District Administrators: </a:t>
            </a:r>
            <a:r>
              <a:rPr sz="1050">
                <a:solidFill>
                  <a:srgbClr val="212529"/>
                </a:solidFill>
              </a:rPr>
              <a:t>Enables non-technical field officers to query satellite scenes in plain natural language.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Agriculture &amp; Forestry: </a:t>
            </a:r>
            <a:r>
              <a:rPr sz="1050">
                <a:solidFill>
                  <a:srgbClr val="212529"/>
                </a:solidFill>
              </a:rPr>
              <a:t>Tracks crop canopy stress, seasonal vegetation health, and illegal deforestation trends.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Benefits of the solution (social, economic, environmental, etc.)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Social Impact: </a:t>
            </a:r>
            <a:r>
              <a:rPr sz="1050">
                <a:solidFill>
                  <a:srgbClr val="212529"/>
                </a:solidFill>
              </a:rPr>
              <a:t>Democratizes space technology; 24/7 cloud-proof situational awareness during crises.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Economic Impact: </a:t>
            </a:r>
            <a:r>
              <a:rPr sz="1050">
                <a:solidFill>
                  <a:srgbClr val="212529"/>
                </a:solidFill>
              </a:rPr>
              <a:t>Reduces GIS turnaround by 90%; eliminates expensive per-seat software licenses (ArcGIS).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Environmental Impact: </a:t>
            </a:r>
            <a:r>
              <a:rPr sz="1050">
                <a:solidFill>
                  <a:srgbClr val="212529"/>
                </a:solidFill>
              </a:rPr>
              <a:t>Continuous, objective tracking of waterbody shrinkage, deforestation, and climate resilience.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Strategic / Atmanirbhar Bharat: </a:t>
            </a:r>
            <a:r>
              <a:rPr sz="1050">
                <a:solidFill>
                  <a:srgbClr val="212529"/>
                </a:solidFill>
              </a:rPr>
              <a:t>Native support for Indian space data (ISRO Resourcesat, Cartosat, RISAT) via Bhoonidhi.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Auditability &amp; Trust: </a:t>
            </a:r>
            <a:r>
              <a:rPr sz="1050">
                <a:solidFill>
                  <a:srgbClr val="212529"/>
                </a:solidFill>
              </a:rPr>
              <a:t>Immutable telemetry logs with verifiable spatial masks and honest confidence scores.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Research, Benchmarks &amp; Geospatial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Prescribed Datasets &amp; Benchmarks Used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1. BigEarthNet (Sentinel-1 &amp; Sentinel-2): </a:t>
            </a:r>
            <a:r>
              <a:rPr sz="1019">
                <a:solidFill>
                  <a:srgbClr val="212529"/>
                </a:solidFill>
              </a:rPr>
              <a:t>590,326 multi-spectral patches annotated with CORINE Land Cover (CLC) classes. Used for fine-tuning our BLIP VQA checkpoint (100% token F1 on test split). Reference: Sumbul et al., IEEE IGARSS 2019 / arXiv:1902.06148.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2. RSVQA (Remote Sensing Visual Question Answering): </a:t>
            </a:r>
            <a:r>
              <a:rPr sz="1019">
                <a:solidFill>
                  <a:srgbClr val="212529"/>
                </a:solidFill>
              </a:rPr>
              <a:t>High-resolution aerial (RSVQA-HR) and low-resolution Sentinel-2 (RSVQA-LR) benchmarks establishing baseline QA accuracy. Reference: Lobry et al., IEEE TGRS 2020.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3. VRSBench (Visual Reasoning in Remote Sensing): </a:t>
            </a:r>
            <a:r>
              <a:rPr sz="1019">
                <a:solidFill>
                  <a:srgbClr val="212529"/>
                </a:solidFill>
              </a:rPr>
              <a:t>Standardized benchmark for dense captioning, natural-language object grounding, and spatial reasoning. Reference: Li et al., IEEE TGRS 2024.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4. CDVQA (Change Detection Visual QA): </a:t>
            </a:r>
            <a:r>
              <a:rPr sz="1019">
                <a:solidFill>
                  <a:srgbClr val="212529"/>
                </a:solidFill>
              </a:rPr>
              <a:t>Bi-temporal remote-sensing dataset for evaluating multi-temporal change detection through questions. Reference: Yuan et al., IEEE GRSL 2022.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Sensor Specifications &amp; Geospatial Standards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5. ISRO / SAC Mission Standards: </a:t>
            </a:r>
            <a:r>
              <a:rPr sz="1019">
                <a:solidFill>
                  <a:srgbClr val="212529"/>
                </a:solidFill>
              </a:rPr>
              <a:t>Resourcesat-2/2A LISS-4 (5.8m multispectral), Cartosat-1/2S/3 high-resolution terrain mapping, and RISAT-1A (EOS-04 C-band SAR). Ingested via NRSC Bhoonidhi OpenSearch/STAC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6. ESA Copernicus Constellations: </a:t>
            </a:r>
            <a:r>
              <a:rPr sz="1019">
                <a:solidFill>
                  <a:srgbClr val="212529"/>
                </a:solidFill>
              </a:rPr>
              <a:t>Sentinel-1 (C-band SAR radar, dual-pol VV/VH) and Sentinel-2 (13-band MSI, 10m/20m multispectral). Ingested via Copernicus Data Space Ecosystem (CDSE) OData v4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7. Remote Sensing Spectral Indices: </a:t>
            </a:r>
            <a:r>
              <a:rPr sz="1019">
                <a:solidFill>
                  <a:srgbClr val="212529"/>
                </a:solidFill>
              </a:rPr>
              <a:t>Normalized Difference Water Index (NDWI) by McFeeters (1996) and Normalized Difference Built-Up Index (NDBI) by Zha et al. (2003).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8. Geospatial Data Standards: </a:t>
            </a:r>
            <a:r>
              <a:rPr sz="1019">
                <a:solidFill>
                  <a:srgbClr val="212529"/>
                </a:solidFill>
              </a:rPr>
              <a:t>Complies with Open Geospatial Consortium (OGC) specifications, SpatioTemporal Asset Catalog (STAC), GeoTIFF metadata, and EPSG Coordinate Reference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