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Technical: </a:t>
            </a:r>
            <a:r>
              <a:rPr sz="1019">
                <a:solidFill>
                  <a:srgbClr val="212529"/>
                </a:solidFill>
              </a:rPr>
              <a:t>Proven working prototype tested on Sentinel-1/2, BigEarthNet, and ISRO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Operational: </a:t>
            </a:r>
            <a:r>
              <a:rPr sz="1019">
                <a:solidFill>
                  <a:srgbClr val="212529"/>
                </a:solidFill>
              </a:rPr>
              <a:t>100% self-contained; zero paid API dependencies; works offline/air-gapped.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Economic: </a:t>
            </a:r>
            <a:r>
              <a:rPr sz="1019">
                <a:solidFill>
                  <a:srgbClr val="212529"/>
                </a:solidFill>
              </a:rPr>
              <a:t>Open-source stack (GDAL, PyTorch); eliminates expensive per-seat GIS software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Hardware: </a:t>
            </a:r>
            <a:r>
              <a:rPr sz="1019">
                <a:solidFill>
                  <a:srgbClr val="212529"/>
                </a:solidFill>
              </a:rPr>
              <a:t>Runs smoothly on standard CPUs (&lt;300ms) with optional CUDA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and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CRS projections, resolutions (5.8m–20m), and band orders.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Weather &amp; Clouds: </a:t>
            </a:r>
            <a:r>
              <a:rPr sz="1019">
                <a:solidFill>
                  <a:srgbClr val="212529"/>
                </a:solidFill>
              </a:rPr>
              <a:t>Monsoon cloud cover and haze obscure critical optical satellite imagery.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Radar backscatter noise artifacts causing false detection alarms.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AI Hallucination: </a:t>
            </a:r>
            <a:r>
              <a:rPr sz="1019">
                <a:solidFill>
                  <a:srgbClr val="212529"/>
                </a:solidFill>
              </a:rPr>
              <a:t>Generic LLMs inventing ungrounded coordinates and false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for overcoming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Auto-Normalization: </a:t>
            </a:r>
            <a:r>
              <a:rPr sz="1019">
                <a:solidFill>
                  <a:srgbClr val="212529"/>
                </a:solidFill>
              </a:rPr>
              <a:t>Ingestor auto-detects CRS, aligns projections, and standardizes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Fusion: </a:t>
            </a:r>
            <a:r>
              <a:rPr sz="1019">
                <a:solidFill>
                  <a:srgbClr val="212529"/>
                </a:solidFill>
              </a:rPr>
              <a:t>Radar microwaves pierce clouds and rain for 24/7 all-weather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Speckle Filtering: </a:t>
            </a:r>
            <a:r>
              <a:rPr sz="1019">
                <a:solidFill>
                  <a:srgbClr val="212529"/>
                </a:solidFill>
              </a:rPr>
              <a:t>VV/VH dual-polarization filtering and adaptive Otsu thresholding.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Deterministic Routing: </a:t>
            </a:r>
            <a:r>
              <a:rPr sz="1019">
                <a:solidFill>
                  <a:srgbClr val="212529"/>
                </a:solidFill>
              </a:rPr>
              <a:t>Grounded pixel masks, audit logs, and calibrated confidence (84–98%).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Potential impact on the target audience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Disaster Response (NDRF/SDMA): </a:t>
            </a:r>
            <a:r>
              <a:rPr sz="1050">
                <a:solidFill>
                  <a:srgbClr val="212529"/>
                </a:solidFill>
              </a:rPr>
              <a:t>Instant flood extent boundaries &amp; affected area stats (&lt;70ms) to prioritize rescues.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Water Authorities (Jal Shakti): </a:t>
            </a:r>
            <a:r>
              <a:rPr sz="1050">
                <a:solidFill>
                  <a:srgbClr val="212529"/>
                </a:solidFill>
              </a:rPr>
              <a:t>Automates reservoir tracking and wetland depletion monitoring without GIS staff.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Urban Municipalities: </a:t>
            </a:r>
            <a:r>
              <a:rPr sz="1050">
                <a:solidFill>
                  <a:srgbClr val="212529"/>
                </a:solidFill>
              </a:rPr>
              <a:t>Detects unauthorized built-up sprawl and green cover loss via bi-temporal change maps.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District Administrators: </a:t>
            </a:r>
            <a:r>
              <a:rPr sz="1050">
                <a:solidFill>
                  <a:srgbClr val="212529"/>
                </a:solidFill>
              </a:rPr>
              <a:t>Enables non-technical field officers to query satellite scenes in plain natural language.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Agriculture &amp; Forestry: </a:t>
            </a:r>
            <a:r>
              <a:rPr sz="1050">
                <a:solidFill>
                  <a:srgbClr val="212529"/>
                </a:solidFill>
              </a:rPr>
              <a:t>Tracks crop canopy stress, seasonal vegetation health, and illegal deforestation trends.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Benefits of the solution (social, economic, environmental, etc.)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Social Impact: </a:t>
            </a:r>
            <a:r>
              <a:rPr sz="1050">
                <a:solidFill>
                  <a:srgbClr val="212529"/>
                </a:solidFill>
              </a:rPr>
              <a:t>Democratizes space technology; 24/7 cloud-proof situational awareness during crises.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Economic Impact: </a:t>
            </a:r>
            <a:r>
              <a:rPr sz="1050">
                <a:solidFill>
                  <a:srgbClr val="212529"/>
                </a:solidFill>
              </a:rPr>
              <a:t>Reduces GIS turnaround by 90%; eliminates expensive per-seat software licenses (ArcGIS).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Environmental Impact: </a:t>
            </a:r>
            <a:r>
              <a:rPr sz="1050">
                <a:solidFill>
                  <a:srgbClr val="212529"/>
                </a:solidFill>
              </a:rPr>
              <a:t>Continuous, objective tracking of waterbody shrinkage, deforestation, and climate resilience.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Strategic / Atmanirbhar Bharat: </a:t>
            </a:r>
            <a:r>
              <a:rPr sz="1050">
                <a:solidFill>
                  <a:srgbClr val="212529"/>
                </a:solidFill>
              </a:rPr>
              <a:t>Native support for Indian space data (ISRO Resourcesat, Cartosat, RISAT) via Bhoonidhi.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Auditability &amp; Trust: </a:t>
            </a:r>
            <a:r>
              <a:rPr sz="1050">
                <a:solidFill>
                  <a:srgbClr val="212529"/>
                </a:solidFill>
              </a:rPr>
              <a:t>Immutable telemetry logs with verifiable spatial masks and honest confidence scores.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Details / Links of the reference and research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Benchmark Datasets &amp; Research Papers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BigEarthNet (Sumbul et al., 2019): </a:t>
            </a:r>
            <a:r>
              <a:rPr sz="1050">
                <a:solidFill>
                  <a:srgbClr val="212529"/>
                </a:solidFill>
              </a:rPr>
              <a:t>Multimodal Sentinel-1/2 benchmark for RS-VLM fine-tuning (arXiv:1902.06148).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RSVQA Benchmark (Lobry et al., IEEE TGRS): </a:t>
            </a:r>
            <a:r>
              <a:rPr sz="1050">
                <a:solidFill>
                  <a:srgbClr val="212529"/>
                </a:solidFill>
              </a:rPr>
              <a:t>Standard evaluation benchmark for Remote Sensing Visual Question Answering.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VRSBench (Li et al., IEEE TGRS 2024): </a:t>
            </a:r>
            <a:r>
              <a:rPr sz="1050">
                <a:solidFill>
                  <a:srgbClr val="212529"/>
                </a:solidFill>
              </a:rPr>
              <a:t>Benchmark for text-guided visual grounding and remote sensing captioning.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CDVQA (Yuan et al., IEEE GRSL 2022): </a:t>
            </a:r>
            <a:r>
              <a:rPr sz="1050">
                <a:solidFill>
                  <a:srgbClr val="212529"/>
                </a:solidFill>
              </a:rPr>
              <a:t>Bi-temporal change detection visual QA benchmark for multi-temporal analysis.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Standards, Space Missions &amp; Project Repository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ISRO / SAC Data Manuals: </a:t>
            </a:r>
            <a:r>
              <a:rPr sz="1050">
                <a:solidFill>
                  <a:srgbClr val="212529"/>
                </a:solidFill>
              </a:rPr>
              <a:t>Resourcesat-2A, Cartosat-3 &amp; RISAT-1A (EOS-04) data formats (bhoonidhi.nrsc.gov.in).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ESA Copernicus Standards: </a:t>
            </a:r>
            <a:r>
              <a:rPr sz="1050">
                <a:solidFill>
                  <a:srgbClr val="212529"/>
                </a:solidFill>
              </a:rPr>
              <a:t>Sentinel-1 SAR &amp; Sentinel-2 MSI data specifications (dataspace.copernicus.eu).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OGC &amp; STAC Standards: </a:t>
            </a:r>
            <a:r>
              <a:rPr sz="1050">
                <a:solidFill>
                  <a:srgbClr val="212529"/>
                </a:solidFill>
              </a:rPr>
              <a:t>OGC GeoTIFF raster specifications, EPSG coordinate systems, and STAC catalog APIs.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Open-Source Codebase: </a:t>
            </a:r>
            <a:r>
              <a:rPr sz="1050">
                <a:solidFill>
                  <a:srgbClr val="212529"/>
                </a:solidFill>
              </a:rPr>
              <a:t>Full SatQuery AI implementation &amp; weights (github.com/senguptakrishnendu103-dotcom/satquery-ai).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