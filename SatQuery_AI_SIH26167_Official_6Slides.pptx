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0728655" cy="53035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777240"/>
            <a:ext cx="101800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B2C5B"/>
                </a:solidFill>
              </a:defRPr>
            </a:pPr>
            <a:r>
              <a:t>SatQuery AI</a:t>
            </a:r>
          </a:p>
          <a:p>
            <a:pPr algn="ctr">
              <a:spcBef>
                <a:spcPts val="600"/>
              </a:spcBef>
              <a:defRPr sz="1650" b="1">
                <a:solidFill>
                  <a:srgbClr val="0D6ECC"/>
                </a:solidFill>
              </a:defRPr>
            </a:pPr>
            <a:r>
              <a:t>An Interactive Vision-Language Assistant for Multimodal Remote Sensing Image Analysis through Text Queries</a:t>
            </a:r>
          </a:p>
          <a:p>
            <a:pPr algn="ctr">
              <a:spcBef>
                <a:spcPts val="1400"/>
              </a:spcBef>
              <a:defRPr sz="1300" b="1">
                <a:solidFill>
                  <a:srgbClr val="800080"/>
                </a:solidFill>
              </a:defRPr>
            </a:pPr>
            <a:r>
              <a:t>SMART INDIA HACKATHON 2026 | IDEA SUBMISSION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212529"/>
                </a:solidFill>
              </a:rPr>
              <a:t>Problem Statement ID: </a:t>
            </a:r>
            <a:r>
              <a:rPr sz="1200">
                <a:solidFill>
                  <a:srgbClr val="0B2C5B"/>
                </a:solidFill>
              </a:rPr>
              <a:t>SIH26167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212529"/>
                </a:solidFill>
              </a:rPr>
              <a:t>Problem Statement Title: </a:t>
            </a:r>
            <a:r>
              <a:rPr sz="1200">
                <a:solidFill>
                  <a:srgbClr val="212529"/>
                </a:solidFill>
              </a:rPr>
              <a:t>Interactive Vision-Language Assistant for Multimodal Remote Sensing Image Analysis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212529"/>
                </a:solidFill>
              </a:rPr>
              <a:t>Category / Theme: </a:t>
            </a:r>
            <a:r>
              <a:rPr sz="1200">
                <a:solidFill>
                  <a:srgbClr val="212529"/>
                </a:solidFill>
              </a:rPr>
              <a:t>Space Technology / Disaster Management / Water Resources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212529"/>
                </a:solidFill>
              </a:rPr>
              <a:t>Aligned Ministries/Agencies: </a:t>
            </a:r>
            <a:r>
              <a:rPr sz="1200">
                <a:solidFill>
                  <a:srgbClr val="0B2C5B"/>
                </a:solidFill>
              </a:rPr>
              <a:t>ISRO / Space Applications Centre (SAC) &amp; Ministry of Jal Shakti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212529"/>
                </a:solidFill>
              </a:rPr>
              <a:t>Team Name: </a:t>
            </a:r>
            <a:r>
              <a:rPr sz="1200">
                <a:solidFill>
                  <a:srgbClr val="212529"/>
                </a:solidFill>
              </a:rPr>
              <a:t>Your Team Name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212529"/>
                </a:solidFill>
              </a:rPr>
              <a:t>Team Leader &amp; Members: </a:t>
            </a:r>
            <a:r>
              <a:rPr sz="1200">
                <a:solidFill>
                  <a:srgbClr val="212529"/>
                </a:solidFill>
              </a:rPr>
              <a:t>Team Leader (Leader) | Member 1 | Member 2 | Member 3 | Member 4 | Member 5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212529"/>
                </a:solidFill>
              </a:rPr>
              <a:t>College / Institute Name: </a:t>
            </a:r>
            <a:r>
              <a:rPr sz="1200">
                <a:solidFill>
                  <a:srgbClr val="212529"/>
                </a:solidFill>
              </a:rPr>
              <a:t>Your College / University Name, City,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D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327648"/>
            <a:ext cx="1036289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27648"/>
            <a:ext cx="731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164592"/>
            <a:ext cx="1691640" cy="10058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12529"/>
                </a:solidFill>
              </a:defRPr>
            </a:pPr>
            <a:r>
              <a:t>Your</a:t>
            </a:r>
          </a:p>
          <a:p>
            <a:pPr algn="ctr">
              <a:defRPr sz="1100" b="1">
                <a:solidFill>
                  <a:srgbClr val="212529"/>
                </a:solidFill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212529"/>
                </a:solidFill>
              </a:defRPr>
            </a:pPr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56032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12529"/>
                </a:solidFill>
              </a:defRPr>
            </a:pPr>
            <a:r>
              <a:t>SatQuery AI: Interactive Multimodal RS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64592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B2C5B"/>
                </a:solidFill>
              </a:defRPr>
            </a:pPr>
            <a:r>
              <a:t>SMART INDIA</a:t>
            </a:r>
          </a:p>
          <a:p>
            <a:pPr algn="r">
              <a:defRPr sz="1400" b="1">
                <a:solidFill>
                  <a:srgbClr val="0B2C5B"/>
                </a:solidFill>
              </a:defRPr>
            </a:pPr>
            <a:r>
              <a:t>HACKATHON</a:t>
            </a:r>
          </a:p>
          <a:p>
            <a:pPr algn="r">
              <a:defRPr sz="1400" b="1">
                <a:solidFill>
                  <a:srgbClr val="0B2C5B"/>
                </a:solidFill>
              </a:defRPr>
            </a:pPr>
            <a:r>
              <a:t>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D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327648"/>
            <a:ext cx="1036289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27648"/>
            <a:ext cx="731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 u="sng">
                <a:solidFill>
                  <a:srgbClr val="0D6ECC"/>
                </a:solidFill>
              </a:rPr>
              <a:t>❖ Proposed Solution (Describe your Idea/Solution/Prototype)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3611880" cy="40690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121408"/>
            <a:ext cx="3282696" cy="384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2C5B"/>
                </a:solidFill>
              </a:defRPr>
            </a:pPr>
            <a:r>
              <a:t>• Detailed explanation of the proposed solution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Agentic AI Assistant: </a:t>
            </a:r>
            <a:r>
              <a:rPr sz="1019">
                <a:solidFill>
                  <a:srgbClr val="212529"/>
                </a:solidFill>
              </a:rPr>
              <a:t>Translates natural-language text questions into multi-spectral satellite analytics without requiring manual GIS tooling.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7 Specialist AI Engines: </a:t>
            </a:r>
            <a:r>
              <a:rPr sz="1019">
                <a:solidFill>
                  <a:srgbClr val="212529"/>
                </a:solidFill>
              </a:rPr>
              <a:t>Integrates fine-tuned BLIP VQA, dense scene captioning, text-guided grounding, change detection, Optical+SAR fusion, NDWI, and NDBI.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Multi-Sensor Ingestion: </a:t>
            </a:r>
            <a:r>
              <a:rPr sz="1019">
                <a:solidFill>
                  <a:srgbClr val="212529"/>
                </a:solidFill>
              </a:rPr>
              <a:t>Natively ingests single GeoTIFFs, bi-temporal pairs, and optical+radar stacks while preserving real CRS georeferencing and spectral bit-depth.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Interactive Map Canvas: </a:t>
            </a:r>
            <a:r>
              <a:rPr sz="1019">
                <a:solidFill>
                  <a:srgbClr val="212529"/>
                </a:solidFill>
              </a:rPr>
              <a:t>Delivers human-readable answers coupled with interactive MapLibre GL map layers (bounding boxes, pixel masks, and bi-temporal swipe wipes).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2011680"/>
            <a:ext cx="3611880" cy="40690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2121408"/>
            <a:ext cx="3282696" cy="384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2C5B"/>
                </a:solidFill>
              </a:defRPr>
            </a:pPr>
            <a:r>
              <a:t>• How it addresses the problem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Democratizes Space Data: </a:t>
            </a:r>
            <a:r>
              <a:rPr sz="1019">
                <a:solidFill>
                  <a:srgbClr val="212529"/>
                </a:solidFill>
              </a:rPr>
              <a:t>Enables hydrologists, disaster teams, and planners to query complex satellite data in plain English without learning GIS software.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All-Weather Continuity: </a:t>
            </a:r>
            <a:r>
              <a:rPr sz="1019">
                <a:solidFill>
                  <a:srgbClr val="212529"/>
                </a:solidFill>
              </a:rPr>
              <a:t>Combines optical scenes with Sentinel-1 / RISAT C-band SAR radar to penetrate monsoon cloud cover and heavy haze during disasters.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Sub-Second Turnaround: </a:t>
            </a:r>
            <a:r>
              <a:rPr sz="1019">
                <a:solidFill>
                  <a:srgbClr val="212529"/>
                </a:solidFill>
              </a:rPr>
              <a:t>Cuts geospatial turnaround time from hours to milliseconds (&lt;70ms for spectral tools, &lt;260ms for multimodal fusion).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Automated Preprocessing: </a:t>
            </a:r>
            <a:r>
              <a:rPr sz="1019">
                <a:solidFill>
                  <a:srgbClr val="212529"/>
                </a:solidFill>
              </a:rPr>
              <a:t>Auto-reprojects coordinate systems (EPSG), scales 16-bit to 8-bit dynamic contrast, and co-registers multi-sensor rasters.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2011680"/>
            <a:ext cx="3611880" cy="40690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2121408"/>
            <a:ext cx="3282696" cy="384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2C5B"/>
                </a:solidFill>
              </a:defRPr>
            </a:pPr>
            <a:r>
              <a:t>• Innovation and uniqueness of the solution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Zero-Hallucination Routing: </a:t>
            </a:r>
            <a:r>
              <a:rPr sz="1019">
                <a:solidFill>
                  <a:srgbClr val="212529"/>
                </a:solidFill>
              </a:rPr>
              <a:t>Deterministic QueryClassifier maps queries strictly to verified capabilities, guaranteeing factual, auditable answers.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Native ISRO Mission Support: </a:t>
            </a:r>
            <a:r>
              <a:rPr sz="1019">
                <a:solidFill>
                  <a:srgbClr val="212529"/>
                </a:solidFill>
              </a:rPr>
              <a:t>Built-in adapters for Resourcesat-2A (LISS-4 5.8m), Cartosat-2S/3, and RISAT-1A with authentic product metadata.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Multimodal Optical+SAR Co-Analysis: </a:t>
            </a:r>
            <a:r>
              <a:rPr sz="1019">
                <a:solidFill>
                  <a:srgbClr val="212529"/>
                </a:solidFill>
              </a:rPr>
              <a:t>Simultaneously reasons across optical surface reflectance and calibrated radar backscatter on a single grid.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Transparent Execution Audit: </a:t>
            </a:r>
            <a:r>
              <a:rPr sz="1019">
                <a:solidFill>
                  <a:srgbClr val="212529"/>
                </a:solidFill>
              </a:rPr>
              <a:t>Every result includes an immutable audit log detailing exact model latency, confidence scores, and parameters.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12529"/>
                </a:solidFill>
              </a:defRPr>
            </a:pPr>
            <a: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46920" y="13716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B2C5B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0B2C5B"/>
                </a:solidFill>
              </a:defRPr>
            </a:pPr>
            <a:r>
              <a:t>⚡ SATQUERY AI ARCHITECTURE: MULTIMODAL EARTH OBSERVATION &amp; INTELLIGENCE FLOW 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32688"/>
            <a:ext cx="8961120" cy="932688"/>
          </a:xfrm>
          <a:prstGeom prst="roundRect">
            <a:avLst/>
          </a:prstGeom>
          <a:solidFill>
            <a:srgbClr val="F2F7FF"/>
          </a:solidFill>
          <a:ln w="19050">
            <a:solidFill>
              <a:srgbClr val="AA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03120" y="960120"/>
            <a:ext cx="5669280" cy="219456"/>
          </a:xfrm>
          <a:prstGeom prst="round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</a:defRPr>
            </a:pPr>
            <a:r>
              <a:t>1. USER ACCESS &amp; CLIENT LAYER   built with React 19, Vite, TypeScript &amp; Tailwind CSS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16152"/>
            <a:ext cx="1682496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54864" rIns="54864"/>
          <a:lstStyle/>
          <a:p>
            <a:pPr algn="ctr">
              <a:defRPr sz="880" b="1">
                <a:solidFill>
                  <a:srgbClr val="0B2C5B"/>
                </a:solidFill>
              </a:defRPr>
            </a:pPr>
            <a:r>
              <a:t>🚨 Disaster Responders</a:t>
            </a:r>
          </a:p>
          <a:p>
            <a:pPr algn="ctr">
              <a:defRPr sz="780">
                <a:solidFill>
                  <a:srgbClr val="212529"/>
                </a:solidFill>
              </a:defRPr>
            </a:pPr>
            <a:r>
              <a:t>NDRF / SDMA View</a:t>
            </a:r>
            <a:br/>
            <a:r>
              <a:t>(Flood &amp; Crisis Rescue)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04288" y="1216152"/>
            <a:ext cx="1682496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54864" rIns="54864"/>
          <a:lstStyle/>
          <a:p>
            <a:pPr algn="ctr">
              <a:defRPr sz="880" b="1">
                <a:solidFill>
                  <a:srgbClr val="0B2C5B"/>
                </a:solidFill>
              </a:defRPr>
            </a:pPr>
            <a:r>
              <a:t>🌊 Water Authorities</a:t>
            </a:r>
          </a:p>
          <a:p>
            <a:pPr algn="ctr">
              <a:defRPr sz="780">
                <a:solidFill>
                  <a:srgbClr val="212529"/>
                </a:solidFill>
              </a:defRPr>
            </a:pPr>
            <a:r>
              <a:t>Jal Shakti Portal</a:t>
            </a:r>
            <a:br/>
            <a:r>
              <a:t>(Reservoir &amp; Hydrology)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59936" y="1216152"/>
            <a:ext cx="1682496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54864" rIns="54864"/>
          <a:lstStyle/>
          <a:p>
            <a:pPr algn="ctr">
              <a:defRPr sz="880" b="1">
                <a:solidFill>
                  <a:srgbClr val="0B2C5B"/>
                </a:solidFill>
              </a:defRPr>
            </a:pPr>
            <a:r>
              <a:t>🏙️ Urban Planners</a:t>
            </a:r>
          </a:p>
          <a:p>
            <a:pPr algn="ctr">
              <a:defRPr sz="780">
                <a:solidFill>
                  <a:srgbClr val="212529"/>
                </a:solidFill>
              </a:defRPr>
            </a:pPr>
            <a:r>
              <a:t>Municipal Dashboard</a:t>
            </a:r>
            <a:br/>
            <a:r>
              <a:t>(Sprawl &amp; Encroachment)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15584" y="1216152"/>
            <a:ext cx="1682496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54864" rIns="54864"/>
          <a:lstStyle/>
          <a:p>
            <a:pPr algn="ctr">
              <a:defRPr sz="880" b="1">
                <a:solidFill>
                  <a:srgbClr val="0B2C5B"/>
                </a:solidFill>
              </a:defRPr>
            </a:pPr>
            <a:r>
              <a:t>🌾 Field Officers</a:t>
            </a:r>
          </a:p>
          <a:p>
            <a:pPr algn="ctr">
              <a:defRPr sz="780">
                <a:solidFill>
                  <a:srgbClr val="212529"/>
                </a:solidFill>
              </a:defRPr>
            </a:pPr>
            <a:r>
              <a:t>Mobile Agritech</a:t>
            </a:r>
            <a:br/>
            <a:r>
              <a:t>(Crop Canopy &amp; Drought)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232" y="1216152"/>
            <a:ext cx="1682496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54864" rIns="54864"/>
          <a:lstStyle/>
          <a:p>
            <a:pPr algn="ctr">
              <a:defRPr sz="880" b="1">
                <a:solidFill>
                  <a:srgbClr val="0B2C5B"/>
                </a:solidFill>
              </a:defRPr>
            </a:pPr>
            <a:r>
              <a:t>🛡️ Defense &amp; Maritime</a:t>
            </a:r>
          </a:p>
          <a:p>
            <a:pPr algn="ctr">
              <a:defRPr sz="780">
                <a:solidFill>
                  <a:srgbClr val="212529"/>
                </a:solidFill>
              </a:defRPr>
            </a:pPr>
            <a:r>
              <a:t>ISRO / SAC Systems</a:t>
            </a:r>
            <a:br/>
            <a:r>
              <a:t>(SAR Coastal Security)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86537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877F2"/>
                </a:solidFill>
              </a:defRPr>
            </a:pPr>
            <a:r>
              <a:t>▼  ▼  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48256"/>
            <a:ext cx="8961120" cy="932688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A0B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377440" y="2075688"/>
            <a:ext cx="5120640" cy="219456"/>
          </a:xfrm>
          <a:prstGeom prst="roundRect">
            <a:avLst/>
          </a:prstGeom>
          <a:solidFill>
            <a:srgbClr val="0F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2. API GATEWAY &amp; CORE GEOSPATIAL BACKEND (FastAPI / Uvicorn)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331720"/>
            <a:ext cx="14630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45720" rIns="45720"/>
          <a:lstStyle/>
          <a:p>
            <a:pPr algn="ctr">
              <a:defRPr sz="850" b="1">
                <a:solidFill>
                  <a:srgbClr val="0B2C5B"/>
                </a:solidFill>
              </a:defRPr>
            </a:pPr>
            <a:r>
              <a:t>🔒 RBAC &amp; Query Guard</a:t>
            </a:r>
          </a:p>
          <a:p>
            <a:pPr algn="ctr">
              <a:defRPr sz="750">
                <a:solidFill>
                  <a:srgbClr val="212529"/>
                </a:solidFill>
              </a:defRPr>
            </a:pPr>
            <a:r>
              <a:t>Sanitizes inputs,</a:t>
            </a:r>
            <a:br/>
            <a:r>
              <a:t>enforces CRS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84832" y="2331720"/>
            <a:ext cx="14630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45720" rIns="45720"/>
          <a:lstStyle/>
          <a:p>
            <a:pPr algn="ctr">
              <a:defRPr sz="850" b="1">
                <a:solidFill>
                  <a:srgbClr val="0B2C5B"/>
                </a:solidFill>
              </a:defRPr>
            </a:pPr>
            <a:r>
              <a:t>🔄 Raster Ingestion</a:t>
            </a:r>
          </a:p>
          <a:p>
            <a:pPr algn="ctr">
              <a:defRPr sz="750">
                <a:solidFill>
                  <a:srgbClr val="212529"/>
                </a:solidFill>
              </a:defRPr>
            </a:pPr>
            <a:r>
              <a:t>Auto-reprojects CRS,</a:t>
            </a:r>
            <a:br/>
            <a:r>
              <a:t>calibrates bands (GDAL)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21024" y="2331720"/>
            <a:ext cx="14630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45720" rIns="45720"/>
          <a:lstStyle/>
          <a:p>
            <a:pPr algn="ctr">
              <a:defRPr sz="850" b="1">
                <a:solidFill>
                  <a:srgbClr val="0B2C5B"/>
                </a:solidFill>
              </a:defRPr>
            </a:pPr>
            <a:r>
              <a:t>⚙️ Agent Orchestrator</a:t>
            </a:r>
          </a:p>
          <a:p>
            <a:pPr algn="ctr">
              <a:defRPr sz="750">
                <a:solidFill>
                  <a:srgbClr val="212529"/>
                </a:solidFill>
              </a:defRPr>
            </a:pPr>
            <a:r>
              <a:t>Intent parsing &amp;</a:t>
            </a:r>
            <a:br/>
            <a:r>
              <a:t>model routing registry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31720"/>
            <a:ext cx="14630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45720" rIns="45720"/>
          <a:lstStyle/>
          <a:p>
            <a:pPr algn="ctr">
              <a:defRPr sz="850" b="1">
                <a:solidFill>
                  <a:srgbClr val="0B2C5B"/>
                </a:solidFill>
              </a:defRPr>
            </a:pPr>
            <a:r>
              <a:t>&lt;/&gt; REST API Flow</a:t>
            </a:r>
          </a:p>
          <a:p>
            <a:pPr algn="ctr">
              <a:defRPr sz="750">
                <a:solidFill>
                  <a:srgbClr val="212529"/>
                </a:solidFill>
              </a:defRPr>
            </a:pPr>
            <a:r>
              <a:t>FastAPI endpoints &amp;</a:t>
            </a:r>
            <a:br/>
            <a:r>
              <a:t>GeoJSON raster streams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2331720"/>
            <a:ext cx="2606040" cy="594360"/>
          </a:xfrm>
          <a:prstGeom prst="roundRect">
            <a:avLst/>
          </a:prstGeom>
          <a:solidFill>
            <a:srgbClr val="EEF4FF"/>
          </a:solidFill>
          <a:ln w="15240">
            <a:solidFill>
              <a:srgbClr val="187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defRPr sz="850" b="1">
                <a:solidFill>
                  <a:srgbClr val="0F3C82"/>
                </a:solidFill>
              </a:defRPr>
            </a:pPr>
            <a:r>
              <a:t>📊 ExecutionTracker (Automated Delivery)</a:t>
            </a:r>
          </a:p>
          <a:p>
            <a:pPr algn="ctr">
              <a:defRPr sz="750">
                <a:solidFill>
                  <a:srgbClr val="212529"/>
                </a:solidFill>
              </a:defRPr>
            </a:pPr>
            <a:r>
              <a:t>• Exportable JSON Audit  • SHA-256 Hashes</a:t>
            </a:r>
            <a:br/>
            <a:r>
              <a:t>• &lt;300ms CPU Profiling  • Mask GeoJSON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980944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877F2"/>
                </a:solidFill>
              </a:defRPr>
            </a:pPr>
            <a:r>
              <a:t>▼  ▼  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163824"/>
            <a:ext cx="8961120" cy="932688"/>
          </a:xfrm>
          <a:prstGeom prst="roundRect">
            <a:avLst/>
          </a:prstGeom>
          <a:solidFill>
            <a:srgbClr val="F8F5FF"/>
          </a:solidFill>
          <a:ln w="19050">
            <a:solidFill>
              <a:srgbClr val="D2B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94560" y="3191256"/>
            <a:ext cx="5486400" cy="219456"/>
          </a:xfrm>
          <a:prstGeom prst="roundRect">
            <a:avLst/>
          </a:prstGeom>
          <a:solidFill>
            <a:srgbClr val="692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3. MULTIMODAL INTELLIGENCE LAYER (Specialist AI &amp; Spectral Engines)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447288"/>
            <a:ext cx="2761488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C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54864" rIns="54864"/>
          <a:lstStyle/>
          <a:p>
            <a:pPr algn="ctr">
              <a:defRPr sz="880" b="1">
                <a:solidFill>
                  <a:srgbClr val="692DAF"/>
                </a:solidFill>
              </a:defRPr>
            </a:pPr>
            <a:r>
              <a:t>🧠 BLIP RS-VQA &amp; Grounder</a:t>
            </a:r>
          </a:p>
          <a:p>
            <a:pPr algn="ctr">
              <a:defRPr sz="780">
                <a:solidFill>
                  <a:srgbClr val="212529"/>
                </a:solidFill>
              </a:defRPr>
            </a:pPr>
            <a:r>
              <a:t>Fine-tuned on BigEarthNet</a:t>
            </a:r>
            <a:br/>
            <a:r>
              <a:t>Open-vocabulary grounding &amp; VQA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3447288"/>
            <a:ext cx="2761488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C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54864" rIns="54864"/>
          <a:lstStyle/>
          <a:p>
            <a:pPr algn="ctr">
              <a:defRPr sz="880" b="1">
                <a:solidFill>
                  <a:srgbClr val="692DAF"/>
                </a:solidFill>
              </a:defRPr>
            </a:pPr>
            <a:r>
              <a:t>🛰️ Optical + SAR Fusion Tool</a:t>
            </a:r>
          </a:p>
          <a:p>
            <a:pPr algn="ctr">
              <a:defRPr sz="780">
                <a:solidFill>
                  <a:srgbClr val="212529"/>
                </a:solidFill>
              </a:defRPr>
            </a:pPr>
            <a:r>
              <a:t>Cloud-penetrating radar C-SAR</a:t>
            </a:r>
            <a:br/>
            <a:r>
              <a:t>Backscatter + Specular water agreement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65392" y="3447288"/>
            <a:ext cx="2761488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C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54864" rIns="54864"/>
          <a:lstStyle/>
          <a:p>
            <a:pPr algn="ctr">
              <a:defRPr sz="880" b="1">
                <a:solidFill>
                  <a:srgbClr val="692DAF"/>
                </a:solidFill>
              </a:defRPr>
            </a:pPr>
            <a:r>
              <a:t>📊 Bi-Temporal Change Engine</a:t>
            </a:r>
          </a:p>
          <a:p>
            <a:pPr algn="ctr">
              <a:defRPr sz="780">
                <a:solidFill>
                  <a:srgbClr val="212529"/>
                </a:solidFill>
              </a:defRPr>
            </a:pPr>
            <a:r>
              <a:t>Radiometric differential raster math</a:t>
            </a:r>
            <a:br/>
            <a:r>
              <a:t>Pixel anomaly area calculation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28416" y="35661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2DAF"/>
                </a:solidFill>
              </a:defRPr>
            </a:pPr>
            <a:r>
              <a:t>◀▶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5661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2DAF"/>
                </a:solidFill>
              </a:defRPr>
            </a:pPr>
            <a:r>
              <a:t>◀▶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60520"/>
            <a:ext cx="4343400" cy="841248"/>
          </a:xfrm>
          <a:prstGeom prst="roundRect">
            <a:avLst/>
          </a:prstGeom>
          <a:solidFill>
            <a:srgbClr val="F3FCF6"/>
          </a:solidFill>
          <a:ln w="19050">
            <a:solidFill>
              <a:srgbClr val="AAE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" y="4187952"/>
            <a:ext cx="3794760" cy="201168"/>
          </a:xfrm>
          <a:prstGeom prst="roundRect">
            <a:avLst/>
          </a:prstGeom>
          <a:solidFill>
            <a:srgbClr val="14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4. PERSISTENCE LAYER (Hybrid Storage)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425696"/>
            <a:ext cx="201168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E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147D3C"/>
                </a:solidFill>
              </a:defRPr>
            </a:pPr>
            <a:r>
              <a:t>🗄️ Local GeoTIFF Store</a:t>
            </a:r>
          </a:p>
          <a:p>
            <a:pPr algn="ctr">
              <a:defRPr sz="750">
                <a:solidFill>
                  <a:srgbClr val="212529"/>
                </a:solidFill>
              </a:defRPr>
            </a:pPr>
            <a:r>
              <a:t>Multispectral &amp; SAR Rasters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70048" y="4425696"/>
            <a:ext cx="201168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E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147D3C"/>
                </a:solidFill>
              </a:defRPr>
            </a:pPr>
            <a:r>
              <a:t>⚡ Tile Cache &amp; Audit DB</a:t>
            </a:r>
          </a:p>
          <a:p>
            <a:pPr algn="ctr">
              <a:defRPr sz="750">
                <a:solidFill>
                  <a:srgbClr val="212529"/>
                </a:solidFill>
              </a:defRPr>
            </a:pPr>
            <a:r>
              <a:t>Indexed Spatial Queries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74920" y="4160520"/>
            <a:ext cx="4343400" cy="841248"/>
          </a:xfrm>
          <a:prstGeom prst="roundRect">
            <a:avLst/>
          </a:prstGeom>
          <a:solidFill>
            <a:srgbClr val="FFF9F3"/>
          </a:solidFill>
          <a:ln w="19050">
            <a:solidFill>
              <a:srgbClr val="FA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349240" y="4187952"/>
            <a:ext cx="3794760" cy="201168"/>
          </a:xfrm>
          <a:prstGeom prst="roundRect">
            <a:avLst/>
          </a:prstGeom>
          <a:solidFill>
            <a:srgbClr val="D7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5. INTEROPERABILITY LAYER (Standardized Exchange)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84648" y="4425696"/>
            <a:ext cx="201168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D75F14"/>
                </a:solidFill>
              </a:defRPr>
            </a:pPr>
            <a:r>
              <a:t>🛰️ ISRO Bhuvan / Bhoonidhi</a:t>
            </a:r>
          </a:p>
          <a:p>
            <a:pPr algn="ctr">
              <a:defRPr sz="750">
                <a:solidFill>
                  <a:srgbClr val="212529"/>
                </a:solidFill>
              </a:defRPr>
            </a:pPr>
            <a:r>
              <a:t>Resourcesat, Cartosat, RISAT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4425696"/>
            <a:ext cx="201168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D75F14"/>
                </a:solidFill>
              </a:defRPr>
            </a:pPr>
            <a:r>
              <a:t>🌍 Copernicus CDSE Gateway</a:t>
            </a:r>
          </a:p>
          <a:p>
            <a:pPr algn="ctr">
              <a:defRPr sz="750">
                <a:solidFill>
                  <a:srgbClr val="212529"/>
                </a:solidFill>
              </a:defRPr>
            </a:pPr>
            <a:r>
              <a:t>Sentinel-1 SAR, Sentinel-2 MSI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056632"/>
            <a:ext cx="1682496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defRPr sz="819" b="1">
                <a:solidFill>
                  <a:srgbClr val="0F3C82"/>
                </a:solidFill>
              </a:defRPr>
            </a:pPr>
            <a:r>
              <a:t>🌐 Unified Access</a:t>
            </a:r>
          </a:p>
          <a:p>
            <a:pPr algn="ctr">
              <a:defRPr sz="720">
                <a:solidFill>
                  <a:srgbClr val="646E78"/>
                </a:solidFill>
              </a:defRPr>
            </a:pPr>
            <a:r>
              <a:t>Cross-departmental GIS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04288" y="5056632"/>
            <a:ext cx="1682496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defRPr sz="819" b="1">
                <a:solidFill>
                  <a:srgbClr val="0F3C82"/>
                </a:solidFill>
              </a:defRPr>
            </a:pPr>
            <a:r>
              <a:t>🧠 Zero Hallucination</a:t>
            </a:r>
          </a:p>
          <a:p>
            <a:pPr algn="ctr">
              <a:defRPr sz="720">
                <a:solidFill>
                  <a:srgbClr val="646E78"/>
                </a:solidFill>
              </a:defRPr>
            </a:pPr>
            <a:r>
              <a:t>Strict deterministic routing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59936" y="5056632"/>
            <a:ext cx="1682496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defRPr sz="819" b="1">
                <a:solidFill>
                  <a:srgbClr val="0F3C82"/>
                </a:solidFill>
              </a:defRPr>
            </a:pPr>
            <a:r>
              <a:t>🔒 Air-Gapped Secure</a:t>
            </a:r>
          </a:p>
          <a:p>
            <a:pPr algn="ctr">
              <a:defRPr sz="720">
                <a:solidFill>
                  <a:srgbClr val="646E78"/>
                </a:solidFill>
              </a:defRPr>
            </a:pPr>
            <a:r>
              <a:t>100% on-premise execution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15584" y="5056632"/>
            <a:ext cx="1682496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defRPr sz="819" b="1">
                <a:solidFill>
                  <a:srgbClr val="0F3C82"/>
                </a:solidFill>
              </a:defRPr>
            </a:pPr>
            <a:r>
              <a:t>🛰️ Multi-Sensor Fusion</a:t>
            </a:r>
          </a:p>
          <a:p>
            <a:pPr algn="ctr">
              <a:defRPr sz="720">
                <a:solidFill>
                  <a:srgbClr val="646E78"/>
                </a:solidFill>
              </a:defRPr>
            </a:pPr>
            <a:r>
              <a:t>Optical + SAR co-analysis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71232" y="5056632"/>
            <a:ext cx="1682496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defRPr sz="819" b="1">
                <a:solidFill>
                  <a:srgbClr val="0F3C82"/>
                </a:solidFill>
              </a:defRPr>
            </a:pPr>
            <a:r>
              <a:t>⚡ &lt;300ms Latency</a:t>
            </a:r>
          </a:p>
          <a:p>
            <a:pPr algn="ctr">
              <a:defRPr sz="720">
                <a:solidFill>
                  <a:srgbClr val="646E78"/>
                </a:solidFill>
              </a:defRPr>
            </a:pPr>
            <a:r>
              <a:t>Standard CPU inference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486400"/>
            <a:ext cx="8961120" cy="3291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950" b="1">
                <a:solidFill>
                  <a:srgbClr val="0B2C5B"/>
                </a:solidFill>
              </a:defRPr>
            </a:pPr>
            <a:r>
              <a:t>🎯 OUR GOAL: Democratize satellite Earth observation intelligence with zero hallucination and 24/7 all-weather situational awareness.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46920" y="868680"/>
            <a:ext cx="2103120" cy="49469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2640" y="932688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12529"/>
                </a:solidFill>
              </a:defRPr>
            </a:pPr>
            <a:r>
              <a:t>Techstacks Used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84080" y="1353312"/>
            <a:ext cx="1828800" cy="4572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3572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18288" lIns="54864" rIns="54864"/>
          <a:lstStyle/>
          <a:p>
            <a:pPr algn="ctr">
              <a:defRPr sz="950" b="1">
                <a:solidFill>
                  <a:srgbClr val="212529"/>
                </a:solidFill>
              </a:defRPr>
            </a:pPr>
            <a:r>
              <a:t>🐍 Python 3.11</a:t>
            </a:r>
          </a:p>
          <a:p>
            <a:pPr>
              <a:defRPr sz="750">
                <a:solidFill>
                  <a:srgbClr val="646E78"/>
                </a:solidFill>
              </a:defRPr>
            </a:pPr>
            <a:r>
              <a:t>Backend AI &amp; Engines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1892808"/>
            <a:ext cx="1828800" cy="4572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059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18288" lIns="54864" rIns="54864"/>
          <a:lstStyle/>
          <a:p>
            <a:pPr algn="ctr">
              <a:defRPr sz="950" b="1">
                <a:solidFill>
                  <a:srgbClr val="212529"/>
                </a:solidFill>
              </a:defRPr>
            </a:pPr>
            <a:r>
              <a:t>⚡ FastAPI</a:t>
            </a:r>
          </a:p>
          <a:p>
            <a:pPr>
              <a:defRPr sz="750">
                <a:solidFill>
                  <a:srgbClr val="646E78"/>
                </a:solidFill>
              </a:defRPr>
            </a:pPr>
            <a:r>
              <a:t>Async RESTful Framework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784080" y="2432304"/>
            <a:ext cx="1828800" cy="4572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18288" lIns="54864" rIns="54864"/>
          <a:lstStyle/>
          <a:p>
            <a:pPr algn="ctr">
              <a:defRPr sz="950" b="1">
                <a:solidFill>
                  <a:srgbClr val="212529"/>
                </a:solidFill>
              </a:defRPr>
            </a:pPr>
            <a:r>
              <a:t>⚛️ React 19</a:t>
            </a:r>
          </a:p>
          <a:p>
            <a:pPr>
              <a:defRPr sz="750">
                <a:solidFill>
                  <a:srgbClr val="646E78"/>
                </a:solidFill>
              </a:defRPr>
            </a:pPr>
            <a:r>
              <a:t>Modern Interactive UI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784080" y="2971800"/>
            <a:ext cx="1828800" cy="4572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18288" lIns="54864" rIns="54864"/>
          <a:lstStyle/>
          <a:p>
            <a:pPr algn="ctr">
              <a:defRPr sz="950" b="1">
                <a:solidFill>
                  <a:srgbClr val="212529"/>
                </a:solidFill>
              </a:defRPr>
            </a:pPr>
            <a:r>
              <a:t>🗺️ MapLibre GL</a:t>
            </a:r>
          </a:p>
          <a:p>
            <a:pPr>
              <a:defRPr sz="750">
                <a:solidFill>
                  <a:srgbClr val="646E78"/>
                </a:solidFill>
              </a:defRPr>
            </a:pPr>
            <a:r>
              <a:t>WebGL Vector Map Engine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84080" y="3511296"/>
            <a:ext cx="1828800" cy="4572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18288" lIns="54864" rIns="54864"/>
          <a:lstStyle/>
          <a:p>
            <a:pPr algn="ctr">
              <a:defRPr sz="950" b="1">
                <a:solidFill>
                  <a:srgbClr val="212529"/>
                </a:solidFill>
              </a:defRPr>
            </a:pPr>
            <a:r>
              <a:t>🎨 Tailwind CSS</a:t>
            </a:r>
          </a:p>
          <a:p>
            <a:pPr>
              <a:defRPr sz="750">
                <a:solidFill>
                  <a:srgbClr val="646E78"/>
                </a:solidFill>
              </a:defRPr>
            </a:pPr>
            <a:r>
              <a:t>Utility-First Design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84080" y="4050792"/>
            <a:ext cx="1828800" cy="4572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E4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18288" lIns="54864" rIns="54864"/>
          <a:lstStyle/>
          <a:p>
            <a:pPr algn="ctr">
              <a:defRPr sz="950" b="1">
                <a:solidFill>
                  <a:srgbClr val="212529"/>
                </a:solidFill>
              </a:defRPr>
            </a:pPr>
            <a:r>
              <a:t>🔥 PyTorch</a:t>
            </a:r>
          </a:p>
          <a:p>
            <a:pPr>
              <a:defRPr sz="750">
                <a:solidFill>
                  <a:srgbClr val="646E78"/>
                </a:solidFill>
              </a:defRPr>
            </a:pPr>
            <a:r>
              <a:t>Deep Learning &amp; VLM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84080" y="4590288"/>
            <a:ext cx="1828800" cy="4572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18288" lIns="54864" rIns="54864"/>
          <a:lstStyle/>
          <a:p>
            <a:pPr algn="ctr">
              <a:defRPr sz="950" b="1">
                <a:solidFill>
                  <a:srgbClr val="212529"/>
                </a:solidFill>
              </a:defRPr>
            </a:pPr>
            <a:r>
              <a:t>🌐 GDAL / Rasterio</a:t>
            </a:r>
          </a:p>
          <a:p>
            <a:pPr>
              <a:defRPr sz="750">
                <a:solidFill>
                  <a:srgbClr val="646E78"/>
                </a:solidFill>
              </a:defRPr>
            </a:pPr>
            <a:r>
              <a:t>Geospatial Raster Math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784080" y="5129784"/>
            <a:ext cx="1828800" cy="4572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18288" lIns="54864" rIns="54864"/>
          <a:lstStyle/>
          <a:p>
            <a:pPr algn="ctr">
              <a:defRPr sz="950" b="1">
                <a:solidFill>
                  <a:srgbClr val="212529"/>
                </a:solidFill>
              </a:defRPr>
            </a:pPr>
            <a:r>
              <a:t>🤗 Transformers</a:t>
            </a:r>
          </a:p>
          <a:p>
            <a:pPr>
              <a:defRPr sz="750">
                <a:solidFill>
                  <a:srgbClr val="646E78"/>
                </a:solidFill>
              </a:defRPr>
            </a:pPr>
            <a:r>
              <a:t>BLIP VQA &amp; Grounding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6355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3550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164592"/>
            <a:ext cx="1691640" cy="10058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12529"/>
                </a:solidFill>
              </a:defRPr>
            </a:pPr>
            <a:r>
              <a:t>Your</a:t>
            </a:r>
          </a:p>
          <a:p>
            <a:pPr algn="ctr">
              <a:defRPr sz="1100" b="1">
                <a:solidFill>
                  <a:srgbClr val="212529"/>
                </a:solidFill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212529"/>
                </a:solidFill>
              </a:defRPr>
            </a:pPr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56032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529"/>
                </a:solidFill>
              </a:defRPr>
            </a:pPr>
            <a:r>
              <a:t>FEASIBILITY &amp;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64592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B2C5B"/>
                </a:solidFill>
              </a:defRPr>
            </a:pPr>
            <a:r>
              <a:t>SMART INDIA</a:t>
            </a:r>
          </a:p>
          <a:p>
            <a:pPr algn="r">
              <a:defRPr sz="1400" b="1">
                <a:solidFill>
                  <a:srgbClr val="0B2C5B"/>
                </a:solidFill>
              </a:defRPr>
            </a:pPr>
            <a:r>
              <a:t>HACKATHON</a:t>
            </a:r>
          </a:p>
          <a:p>
            <a:pPr algn="r">
              <a:defRPr sz="1400" b="1">
                <a:solidFill>
                  <a:srgbClr val="0B2C5B"/>
                </a:solidFill>
              </a:defRPr>
            </a:pPr>
            <a:r>
              <a:t>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D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327648"/>
            <a:ext cx="1036289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27648"/>
            <a:ext cx="731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 u="sng">
                <a:solidFill>
                  <a:srgbClr val="0D6ECC"/>
                </a:solidFill>
              </a:rPr>
              <a:t>❖ Feasibility, Challenges &amp; Mitigation Strategies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3611880" cy="40690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121408"/>
            <a:ext cx="3282696" cy="384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2C5B"/>
                </a:solidFill>
              </a:defRPr>
            </a:pPr>
            <a:r>
              <a:t>• Analysis of the feasibility of the idea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Technical: </a:t>
            </a:r>
            <a:r>
              <a:rPr sz="1019">
                <a:solidFill>
                  <a:srgbClr val="212529"/>
                </a:solidFill>
              </a:rPr>
              <a:t>Proven working prototype tested on Sentinel-1/2, BigEarthNet, and ISRO rasters.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Operational: </a:t>
            </a:r>
            <a:r>
              <a:rPr sz="1019">
                <a:solidFill>
                  <a:srgbClr val="212529"/>
                </a:solidFill>
              </a:rPr>
              <a:t>100% self-contained; zero paid API dependencies; works offline/air-gapped.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Economic: </a:t>
            </a:r>
            <a:r>
              <a:rPr sz="1019">
                <a:solidFill>
                  <a:srgbClr val="212529"/>
                </a:solidFill>
              </a:rPr>
              <a:t>Open-source stack (GDAL, PyTorch); eliminates expensive per-seat GIS software fees.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Hardware: </a:t>
            </a:r>
            <a:r>
              <a:rPr sz="1019">
                <a:solidFill>
                  <a:srgbClr val="212529"/>
                </a:solidFill>
              </a:rPr>
              <a:t>Runs smoothly on standard CPUs (&lt;300ms) with optional CUDA acceleration.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2011680"/>
            <a:ext cx="3611880" cy="40690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2121408"/>
            <a:ext cx="3282696" cy="384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2C5B"/>
                </a:solidFill>
              </a:defRPr>
            </a:pPr>
            <a:r>
              <a:t>• Potential challenges and risks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Data Heterogeneity: </a:t>
            </a:r>
            <a:r>
              <a:rPr sz="1019">
                <a:solidFill>
                  <a:srgbClr val="212529"/>
                </a:solidFill>
              </a:rPr>
              <a:t>Varying CRS projections, resolutions (5.8m–20m), and band orders.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Weather &amp; Clouds: </a:t>
            </a:r>
            <a:r>
              <a:rPr sz="1019">
                <a:solidFill>
                  <a:srgbClr val="212529"/>
                </a:solidFill>
              </a:rPr>
              <a:t>Monsoon cloud cover and haze obscure critical optical satellite imagery.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SAR Speckle Noise: </a:t>
            </a:r>
            <a:r>
              <a:rPr sz="1019">
                <a:solidFill>
                  <a:srgbClr val="212529"/>
                </a:solidFill>
              </a:rPr>
              <a:t>Radar backscatter noise artifacts causing false detection alarms.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AI Hallucination: </a:t>
            </a:r>
            <a:r>
              <a:rPr sz="1019">
                <a:solidFill>
                  <a:srgbClr val="212529"/>
                </a:solidFill>
              </a:rPr>
              <a:t>Generic LLMs inventing ungrounded coordinates and false features.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2011680"/>
            <a:ext cx="3611880" cy="40690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2121408"/>
            <a:ext cx="3282696" cy="384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2C5B"/>
                </a:solidFill>
              </a:defRPr>
            </a:pPr>
            <a:r>
              <a:t>• Strategies for overcoming these challenges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Auto-Normalization: </a:t>
            </a:r>
            <a:r>
              <a:rPr sz="1019">
                <a:solidFill>
                  <a:srgbClr val="212529"/>
                </a:solidFill>
              </a:rPr>
              <a:t>Ingestor auto-detects CRS, aligns projections, and standardizes bands.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Optical + SAR Fusion: </a:t>
            </a:r>
            <a:r>
              <a:rPr sz="1019">
                <a:solidFill>
                  <a:srgbClr val="212529"/>
                </a:solidFill>
              </a:rPr>
              <a:t>Radar microwaves pierce clouds and rain for 24/7 all-weather monitoring.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Speckle Filtering: </a:t>
            </a:r>
            <a:r>
              <a:rPr sz="1019">
                <a:solidFill>
                  <a:srgbClr val="212529"/>
                </a:solidFill>
              </a:rPr>
              <a:t>VV/VH dual-polarization filtering and adaptive Otsu thresholding.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Deterministic Routing: </a:t>
            </a:r>
            <a:r>
              <a:rPr sz="1019">
                <a:solidFill>
                  <a:srgbClr val="212529"/>
                </a:solidFill>
              </a:rPr>
              <a:t>Grounded pixel masks, audit logs, and calibrated confidence (84–98%).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164592"/>
            <a:ext cx="1691640" cy="10058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12529"/>
                </a:solidFill>
              </a:defRPr>
            </a:pPr>
            <a:r>
              <a:t>Your</a:t>
            </a:r>
          </a:p>
          <a:p>
            <a:pPr algn="ctr">
              <a:defRPr sz="1100" b="1">
                <a:solidFill>
                  <a:srgbClr val="212529"/>
                </a:solidFill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212529"/>
                </a:solidFill>
              </a:defRPr>
            </a:pPr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56032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529"/>
                </a:solidFill>
              </a:defRPr>
            </a:pPr>
            <a:r>
              <a:t>IMPACT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64592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B2C5B"/>
                </a:solidFill>
              </a:defRPr>
            </a:pPr>
            <a:r>
              <a:t>SMART INDIA</a:t>
            </a:r>
          </a:p>
          <a:p>
            <a:pPr algn="r">
              <a:defRPr sz="1400" b="1">
                <a:solidFill>
                  <a:srgbClr val="0B2C5B"/>
                </a:solidFill>
              </a:defRPr>
            </a:pPr>
            <a:r>
              <a:t>HACKATHON</a:t>
            </a:r>
          </a:p>
          <a:p>
            <a:pPr algn="r">
              <a:defRPr sz="1400" b="1">
                <a:solidFill>
                  <a:srgbClr val="0B2C5B"/>
                </a:solidFill>
              </a:defRPr>
            </a:pPr>
            <a:r>
              <a:t>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D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327648"/>
            <a:ext cx="1036289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27648"/>
            <a:ext cx="731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 u="sng">
                <a:solidFill>
                  <a:srgbClr val="0D6ECC"/>
                </a:solidFill>
              </a:rPr>
              <a:t>❖ Impact &amp; Benefits (Target Audience, Social &amp; Economic Value)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5504688" cy="40690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5138928" cy="384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C5B"/>
                </a:solidFill>
              </a:defRPr>
            </a:pPr>
            <a:r>
              <a:t>• Potential impact on the target audience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Disaster Response (NDRF/SDMA): </a:t>
            </a:r>
            <a:r>
              <a:rPr sz="1050">
                <a:solidFill>
                  <a:srgbClr val="212529"/>
                </a:solidFill>
              </a:rPr>
              <a:t>Instant flood extent boundaries &amp; affected area stats (&lt;70ms) to prioritize rescues.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Water Authorities (Jal Shakti): </a:t>
            </a:r>
            <a:r>
              <a:rPr sz="1050">
                <a:solidFill>
                  <a:srgbClr val="212529"/>
                </a:solidFill>
              </a:rPr>
              <a:t>Automates reservoir tracking and wetland depletion monitoring without GIS staff.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Urban Municipalities: </a:t>
            </a:r>
            <a:r>
              <a:rPr sz="1050">
                <a:solidFill>
                  <a:srgbClr val="212529"/>
                </a:solidFill>
              </a:rPr>
              <a:t>Detects unauthorized built-up sprawl and green cover loss via bi-temporal change maps.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District Administrators: </a:t>
            </a:r>
            <a:r>
              <a:rPr sz="1050">
                <a:solidFill>
                  <a:srgbClr val="212529"/>
                </a:solidFill>
              </a:rPr>
              <a:t>Enables non-technical field officers to query satellite scenes in plain natural language.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Agriculture &amp; Forestry: </a:t>
            </a:r>
            <a:r>
              <a:rPr sz="1050">
                <a:solidFill>
                  <a:srgbClr val="212529"/>
                </a:solidFill>
              </a:rPr>
              <a:t>Tracks crop canopy stress, seasonal vegetation health, and illegal deforestation trends.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2011680"/>
            <a:ext cx="5504688" cy="40690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2121408"/>
            <a:ext cx="5138928" cy="384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C5B"/>
                </a:solidFill>
              </a:defRPr>
            </a:pPr>
            <a:r>
              <a:t>• Benefits of the solution (social, economic, environmental, etc.)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Social Impact: </a:t>
            </a:r>
            <a:r>
              <a:rPr sz="1050">
                <a:solidFill>
                  <a:srgbClr val="212529"/>
                </a:solidFill>
              </a:rPr>
              <a:t>Democratizes space technology; 24/7 cloud-proof situational awareness during crises.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Economic Impact: </a:t>
            </a:r>
            <a:r>
              <a:rPr sz="1050">
                <a:solidFill>
                  <a:srgbClr val="212529"/>
                </a:solidFill>
              </a:rPr>
              <a:t>Reduces GIS turnaround by 90%; eliminates expensive per-seat software licenses (ArcGIS).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Environmental Impact: </a:t>
            </a:r>
            <a:r>
              <a:rPr sz="1050">
                <a:solidFill>
                  <a:srgbClr val="212529"/>
                </a:solidFill>
              </a:rPr>
              <a:t>Continuous, objective tracking of waterbody shrinkage, deforestation, and climate resilience.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Strategic / Atmanirbhar Bharat: </a:t>
            </a:r>
            <a:r>
              <a:rPr sz="1050">
                <a:solidFill>
                  <a:srgbClr val="212529"/>
                </a:solidFill>
              </a:rPr>
              <a:t>Native support for Indian space data (ISRO Resourcesat, Cartosat, RISAT) via Bhoonidhi.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Auditability &amp; Trust: </a:t>
            </a:r>
            <a:r>
              <a:rPr sz="1050">
                <a:solidFill>
                  <a:srgbClr val="212529"/>
                </a:solidFill>
              </a:rPr>
              <a:t>Immutable telemetry logs with verifiable spatial masks and honest confidence scores.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164592"/>
            <a:ext cx="1691640" cy="10058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12529"/>
                </a:solidFill>
              </a:defRPr>
            </a:pPr>
            <a:r>
              <a:t>Your</a:t>
            </a:r>
          </a:p>
          <a:p>
            <a:pPr algn="ctr">
              <a:defRPr sz="1100" b="1">
                <a:solidFill>
                  <a:srgbClr val="212529"/>
                </a:solidFill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212529"/>
                </a:solidFill>
              </a:defRPr>
            </a:pPr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56032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529"/>
                </a:solidFill>
              </a:defRPr>
            </a:pPr>
            <a:r>
              <a:t>RESEARCH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64592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B2C5B"/>
                </a:solidFill>
              </a:defRPr>
            </a:pPr>
            <a:r>
              <a:t>SMART INDIA</a:t>
            </a:r>
          </a:p>
          <a:p>
            <a:pPr algn="r">
              <a:defRPr sz="1400" b="1">
                <a:solidFill>
                  <a:srgbClr val="0B2C5B"/>
                </a:solidFill>
              </a:defRPr>
            </a:pPr>
            <a:r>
              <a:t>HACKATHON</a:t>
            </a:r>
          </a:p>
          <a:p>
            <a:pPr algn="r">
              <a:defRPr sz="1400" b="1">
                <a:solidFill>
                  <a:srgbClr val="0B2C5B"/>
                </a:solidFill>
              </a:defRPr>
            </a:pPr>
            <a:r>
              <a:t>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D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327648"/>
            <a:ext cx="1036289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27648"/>
            <a:ext cx="731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 u="sng">
                <a:solidFill>
                  <a:srgbClr val="0D6ECC"/>
                </a:solidFill>
              </a:rPr>
              <a:t>❖ Details / Links of the reference and research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5504688" cy="40690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5138928" cy="384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C5B"/>
                </a:solidFill>
              </a:defRPr>
            </a:pPr>
            <a:r>
              <a:t>• ISRO Bhuvan &amp; Bhoonidhi National Space Portals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ISRO Bhuvan Geoportal (bhuvan.nrsc.gov.in): </a:t>
            </a:r>
            <a:r>
              <a:rPr sz="1050">
                <a:solidFill>
                  <a:srgbClr val="212529"/>
                </a:solidFill>
              </a:rPr>
              <a:t>Thematic Land Use/Land Cover (LULC), flood hazard layers, CartoDEM elevation models, and disaster services.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NRSC Bhoonidhi Open Data Hub (bhoonidhi.nrsc.gov.in): </a:t>
            </a:r>
            <a:r>
              <a:rPr sz="1050">
                <a:solidFill>
                  <a:srgbClr val="212529"/>
                </a:solidFill>
              </a:rPr>
              <a:t>Resourcesat-2/2A LISS-IV (5.8m optical), Cartosat-2/3, and RISAT-1A (EOS-04 C-band SAR) products.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ISRO MOSDAC (mosdac.gov.in): </a:t>
            </a:r>
            <a:r>
              <a:rPr sz="1050">
                <a:solidFill>
                  <a:srgbClr val="212529"/>
                </a:solidFill>
              </a:rPr>
              <a:t>Space Applications Centre (SAC) meteorological &amp; oceanographic datasets (INSAT-3D/3DR, Oceansat-2/3 scatterometer).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Ministry of Jal Shakti / NHP (indiawris.gov.in): </a:t>
            </a:r>
            <a:r>
              <a:rPr sz="1050">
                <a:solidFill>
                  <a:srgbClr val="212529"/>
                </a:solidFill>
              </a:rPr>
              <a:t>India-WRIS surface water dynamics, reservoir storage capacities, and national wetland inventory datasets.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2011680"/>
            <a:ext cx="5504688" cy="40690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2121408"/>
            <a:ext cx="5138928" cy="384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C5B"/>
                </a:solidFill>
              </a:defRPr>
            </a:pPr>
            <a:r>
              <a:t>• Copernicus &amp; Global Open Geospatial Benchmarks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ESA Copernicus CDSE (dataspace.copernicus.eu): </a:t>
            </a:r>
            <a:r>
              <a:rPr sz="1050">
                <a:solidFill>
                  <a:srgbClr val="212529"/>
                </a:solidFill>
              </a:rPr>
              <a:t>Sentinel-1 (C-band SAR dual-pol VV/VH) &amp; Sentinel-2 (13-band MSI L2A surface reflectance rasters).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BigEarthNet-MM Benchmark (bigearth.net): </a:t>
            </a:r>
            <a:r>
              <a:rPr sz="1050">
                <a:solidFill>
                  <a:srgbClr val="212529"/>
                </a:solidFill>
              </a:rPr>
              <a:t>590,326 multimodal Sentinel-1/2 paired tiles used for RS-VLM domain adaptation (arXiv:1902.06148).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USGS EarthExplorer / Landsat 8-9 (earthexplorer.usgs.gov): </a:t>
            </a:r>
            <a:r>
              <a:rPr sz="1050">
                <a:solidFill>
                  <a:srgbClr val="212529"/>
                </a:solidFill>
              </a:rPr>
              <a:t>Calibrated Operational Land Imager (OLI) multi-spectral and thermal infrared radiance archives.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OGC &amp; STAC Open Standards (ogc.org / stacspec.org): </a:t>
            </a:r>
            <a:r>
              <a:rPr sz="1050">
                <a:solidFill>
                  <a:srgbClr val="212529"/>
                </a:solidFill>
              </a:rPr>
              <a:t>Cloud-Optimized GeoTIFF (COG), SpatioTemporal Asset Catalog, and open-source SatQuery AI pipeline.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