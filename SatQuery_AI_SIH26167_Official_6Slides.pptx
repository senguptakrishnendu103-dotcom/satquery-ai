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3035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101800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B2C5B"/>
                </a:solidFill>
              </a:defRPr>
            </a:pPr>
            <a:r>
              <a:t>SatQuery AI</a:t>
            </a:r>
          </a:p>
          <a:p>
            <a:pPr algn="ctr">
              <a:spcBef>
                <a:spcPts val="600"/>
              </a:spcBef>
              <a:defRPr sz="1650" b="1">
                <a:solidFill>
                  <a:srgbClr val="0D6ECC"/>
                </a:solidFill>
              </a:defRPr>
            </a:pPr>
            <a:r>
              <a:t>An Interactive Vision-Language Assistant for Multimodal Remote Sensing Image Analysis through Text Queries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800080"/>
                </a:solidFill>
              </a:defRPr>
            </a:pPr>
            <a:r>
              <a:t>SMART INDIA HACKATHON 2026 | IDEA SUBMISSION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ID: </a:t>
            </a:r>
            <a:r>
              <a:rPr sz="1200">
                <a:solidFill>
                  <a:srgbClr val="0B2C5B"/>
                </a:solidFill>
              </a:rPr>
              <a:t>SIH26167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Title: </a:t>
            </a:r>
            <a:r>
              <a:rPr sz="1200">
                <a:solidFill>
                  <a:srgbClr val="212529"/>
                </a:solidFill>
              </a:rPr>
              <a:t>Interactive Vision-Language Assistant for Multimodal Remote Sensing Image Analysis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Category / Theme: </a:t>
            </a:r>
            <a:r>
              <a:rPr sz="1200">
                <a:solidFill>
                  <a:srgbClr val="212529"/>
                </a:solidFill>
              </a:rPr>
              <a:t>Space Technology / Disaster Management / Water Resources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Aligned Ministries/Agencies: </a:t>
            </a:r>
            <a:r>
              <a:rPr sz="1200">
                <a:solidFill>
                  <a:srgbClr val="0B2C5B"/>
                </a:solidFill>
              </a:rPr>
              <a:t>ISRO / Space Applications Centre (SAC) &amp; Ministry of Jal Shakti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Name: </a:t>
            </a:r>
            <a:r>
              <a:rPr sz="1200">
                <a:solidFill>
                  <a:srgbClr val="212529"/>
                </a:solidFill>
              </a:rPr>
              <a:t>Your Team Name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Leader &amp; Members: </a:t>
            </a:r>
            <a:r>
              <a:rPr sz="1200">
                <a:solidFill>
                  <a:srgbClr val="212529"/>
                </a:solidFill>
              </a:rPr>
              <a:t>Team Leader (Leader) | Member 1 | Member 2 | Member 3 | Member 4 | Member 5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College / Institute Name: </a:t>
            </a:r>
            <a:r>
              <a:rPr sz="1200">
                <a:solidFill>
                  <a:srgbClr val="212529"/>
                </a:solidFill>
              </a:rPr>
              <a:t>Your College / University Name, City,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212529"/>
                </a:solidFill>
              </a:defRPr>
            </a:pPr>
            <a:r>
              <a:t>SatQuery AI: Interactive Multimodal RS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Detailed explanation of the proposed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Agentic AI Assistant: </a:t>
            </a:r>
            <a:r>
              <a:rPr sz="1019">
                <a:solidFill>
                  <a:srgbClr val="212529"/>
                </a:solidFill>
              </a:rPr>
              <a:t>Translates natural-language text questions into multi-spectral satellite analytics without requiring manual GIS tooling.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 Specialist AI Engines: </a:t>
            </a:r>
            <a:r>
              <a:rPr sz="1019">
                <a:solidFill>
                  <a:srgbClr val="212529"/>
                </a:solidFill>
              </a:rPr>
              <a:t>Integrates fine-tuned BLIP VQA, dense scene captioning, text-guided grounding, change detection, Optical+SAR fusion, NDWI, and NDBI.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Multi-Sensor Ingestion: </a:t>
            </a:r>
            <a:r>
              <a:rPr sz="1019">
                <a:solidFill>
                  <a:srgbClr val="212529"/>
                </a:solidFill>
              </a:rPr>
              <a:t>Natively ingests single GeoTIFFs, bi-temporal pairs, and optical+radar stacks while preserving real CRS georeferencing and spectral bit-depth.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Interactive Map Canvas: </a:t>
            </a:r>
            <a:r>
              <a:rPr sz="1019">
                <a:solidFill>
                  <a:srgbClr val="212529"/>
                </a:solidFill>
              </a:rPr>
              <a:t>Delivers human-readable answers coupled with interactive MapLibre GL map layers (bounding boxes, pixel masks, and bi-temporal swipe wipes).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How it addresses the problem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Democratizes Space Data: </a:t>
            </a:r>
            <a:r>
              <a:rPr sz="1019">
                <a:solidFill>
                  <a:srgbClr val="212529"/>
                </a:solidFill>
              </a:rPr>
              <a:t>Enables hydrologists, disaster teams, and planners to query complex satellite data in plain English without learning GIS software.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All-Weather Continuity: </a:t>
            </a:r>
            <a:r>
              <a:rPr sz="1019">
                <a:solidFill>
                  <a:srgbClr val="212529"/>
                </a:solidFill>
              </a:rPr>
              <a:t>Combines optical scenes with Sentinel-1 / RISAT C-band SAR radar to penetrate monsoon cloud cover and heavy haze during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Sub-Second Turnaround: </a:t>
            </a:r>
            <a:r>
              <a:rPr sz="1019">
                <a:solidFill>
                  <a:srgbClr val="212529"/>
                </a:solidFill>
              </a:rPr>
              <a:t>Cuts geospatial turnaround time from hours to milliseconds (&lt;70ms for spectral tools, &lt;260ms for multimodal fusion).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Preprocessing: </a:t>
            </a:r>
            <a:r>
              <a:rPr sz="1019">
                <a:solidFill>
                  <a:srgbClr val="212529"/>
                </a:solidFill>
              </a:rPr>
              <a:t>Auto-reprojects coordinate systems (EPSG), scales 16-bit to 8-bit dynamic contrast, and co-registers multi-sensor rasters.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Innovation and uniqueness of the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Zero-Hallucination Routing: </a:t>
            </a:r>
            <a:r>
              <a:rPr sz="1019">
                <a:solidFill>
                  <a:srgbClr val="212529"/>
                </a:solidFill>
              </a:rPr>
              <a:t>Deterministic QueryClassifier maps queries strictly to verified capabilities, guaranteeing factual, auditable answers.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Native ISRO Mission Support: </a:t>
            </a:r>
            <a:r>
              <a:rPr sz="1019">
                <a:solidFill>
                  <a:srgbClr val="212529"/>
                </a:solidFill>
              </a:rPr>
              <a:t>Built-in adapters for Resourcesat-2A (LISS-4 5.8m), Cartosat-2S/3, and RISAT-1A with authentic product metadata.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Multimodal Optical+SAR Co-Analysis: </a:t>
            </a:r>
            <a:r>
              <a:rPr sz="1019">
                <a:solidFill>
                  <a:srgbClr val="212529"/>
                </a:solidFill>
              </a:rPr>
              <a:t>Simultaneously reasons across optical surface reflectance and calibrated radar backscatter on a single grid.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Transparent Execution Audit: </a:t>
            </a:r>
            <a:r>
              <a:rPr sz="1019">
                <a:solidFill>
                  <a:srgbClr val="212529"/>
                </a:solidFill>
              </a:rPr>
              <a:t>Every result includes an immutable audit log detailing exact model latency, confidence scores, and parameters.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Technical Approach (Architecture, Stack &amp; Methodology)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Technologies to be used (e.g. programming languages, frameworks, hardware)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Languages: </a:t>
            </a:r>
            <a:r>
              <a:rPr sz="1100">
                <a:solidFill>
                  <a:srgbClr val="212529"/>
                </a:solidFill>
              </a:rPr>
              <a:t>Python 3.11 (Backend AI/GIS Engines), TypeScript (Frontend Web App).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Frontend GIS: </a:t>
            </a:r>
            <a:r>
              <a:rPr sz="1100">
                <a:solidFill>
                  <a:srgbClr val="212529"/>
                </a:solidFill>
              </a:rPr>
              <a:t>React 19, Vite 8, Tailwind CSS v4, MapLibre GL (@nextgis/ngw-map).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Backend &amp; API: </a:t>
            </a:r>
            <a:r>
              <a:rPr sz="1100">
                <a:solidFill>
                  <a:srgbClr val="212529"/>
                </a:solidFill>
              </a:rPr>
              <a:t>FastAPI, Uvicorn ASGI, Pydantic v2 schemas, RESTful OpenAPI/Swagger.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AI / Vision-Language: </a:t>
            </a:r>
            <a:r>
              <a:rPr sz="1100">
                <a:solidFill>
                  <a:srgbClr val="212529"/>
                </a:solidFill>
              </a:rPr>
              <a:t>PyTorch, Hugging Face Transformers (Fine-tuned BLIP VQA &amp; Grounder).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Geospatial Engine: </a:t>
            </a:r>
            <a:r>
              <a:rPr sz="1100">
                <a:solidFill>
                  <a:srgbClr val="212529"/>
                </a:solidFill>
              </a:rPr>
              <a:t>GDAL, Rasterio, NumPy (GeoTIFF, NetCDF, CRS reprojection, band math).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Hardware &amp; Portability: </a:t>
            </a:r>
            <a:r>
              <a:rPr sz="1100">
                <a:solidFill>
                  <a:srgbClr val="212529"/>
                </a:solidFill>
              </a:rPr>
              <a:t>Optimized CPU inference (&lt;300ms), optional CUDA GPU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542032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1: Raster Ingestion &amp; Georeferencing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Auto-reads GeoTIFFs, reprojects CRS, extracts bounds &amp; metadata (GDAL/Rasterio)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7384" y="3017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3236976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2: Natural Language Intent Parsing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QueryClassifier parses question intent &amp; validates input modality constraints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3712464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3931920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3: Agentic Orchestration &amp; Routing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Deterministic ModelRegistry routes strictly to verified specialist (Zero Hallucination)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440740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4626864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4: Specialist AI &amp; Spectral Engines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Runs BLIP VQA, Text Grounder, Change Detection, Optical+SAR Fusion, or Hydro-NDWI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5102352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9944" y="5321808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5: Interactive GIS Visualization &amp; Audit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Renders MapLibre GL vector overlays, confidence score &amp; exportable audit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FEASIBILITY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Feasibility, Challenges &amp; Mitigation Strategies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Technical: </a:t>
            </a:r>
            <a:r>
              <a:rPr sz="1019">
                <a:solidFill>
                  <a:srgbClr val="212529"/>
                </a:solidFill>
              </a:rPr>
              <a:t>Proven working prototype tested on Sentinel-1/2, BigEarthNet, and ISRO rasters.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Operational: </a:t>
            </a:r>
            <a:r>
              <a:rPr sz="1019">
                <a:solidFill>
                  <a:srgbClr val="212529"/>
                </a:solidFill>
              </a:rPr>
              <a:t>100% self-contained; zero paid API dependencies; works offline/air-gapped.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Economic: </a:t>
            </a:r>
            <a:r>
              <a:rPr sz="1019">
                <a:solidFill>
                  <a:srgbClr val="212529"/>
                </a:solidFill>
              </a:rPr>
              <a:t>Open-source stack (GDAL, PyTorch); eliminates expensive per-seat GIS software fees.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Hardware: </a:t>
            </a:r>
            <a:r>
              <a:rPr sz="1019">
                <a:solidFill>
                  <a:srgbClr val="212529"/>
                </a:solidFill>
              </a:rPr>
              <a:t>Runs smoothly on standard CPUs (&lt;300ms) with optional CUDA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Potential challenges and risks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Data Heterogeneity: </a:t>
            </a:r>
            <a:r>
              <a:rPr sz="1019">
                <a:solidFill>
                  <a:srgbClr val="212529"/>
                </a:solidFill>
              </a:rPr>
              <a:t>Varying CRS projections, resolutions (5.8m–20m), and band orders.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Weather &amp; Clouds: </a:t>
            </a:r>
            <a:r>
              <a:rPr sz="1019">
                <a:solidFill>
                  <a:srgbClr val="212529"/>
                </a:solidFill>
              </a:rPr>
              <a:t>Monsoon cloud cover and haze obscure critical optical satellite imagery.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SAR Speckle Noise: </a:t>
            </a:r>
            <a:r>
              <a:rPr sz="1019">
                <a:solidFill>
                  <a:srgbClr val="212529"/>
                </a:solidFill>
              </a:rPr>
              <a:t>Radar backscatter noise artifacts causing false detection alarms.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AI Hallucination: </a:t>
            </a:r>
            <a:r>
              <a:rPr sz="1019">
                <a:solidFill>
                  <a:srgbClr val="212529"/>
                </a:solidFill>
              </a:rPr>
              <a:t>Generic LLMs inventing ungrounded coordinates and false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Strategies for overcoming these challenges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Auto-Normalization: </a:t>
            </a:r>
            <a:r>
              <a:rPr sz="1019">
                <a:solidFill>
                  <a:srgbClr val="212529"/>
                </a:solidFill>
              </a:rPr>
              <a:t>Ingestor auto-detects CRS, aligns projections, and standardizes bands.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Optical + SAR Fusion: </a:t>
            </a:r>
            <a:r>
              <a:rPr sz="1019">
                <a:solidFill>
                  <a:srgbClr val="212529"/>
                </a:solidFill>
              </a:rPr>
              <a:t>Radar microwaves pierce clouds and rain for 24/7 all-weather monitoring.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Speckle Filtering: </a:t>
            </a:r>
            <a:r>
              <a:rPr sz="1019">
                <a:solidFill>
                  <a:srgbClr val="212529"/>
                </a:solidFill>
              </a:rPr>
              <a:t>VV/VH dual-polarization filtering and adaptive Otsu thresholding.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Deterministic Routing: </a:t>
            </a:r>
            <a:r>
              <a:rPr sz="1019">
                <a:solidFill>
                  <a:srgbClr val="212529"/>
                </a:solidFill>
              </a:rPr>
              <a:t>Grounded pixel masks, audit logs, and calibrated confidence (84–98%).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Impact &amp; Benefits (Target Audience, Social &amp; Economic Value)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Potential impact on the target audience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Disaster Response (NDRF/SDMA): </a:t>
            </a:r>
            <a:r>
              <a:rPr sz="1050">
                <a:solidFill>
                  <a:srgbClr val="212529"/>
                </a:solidFill>
              </a:rPr>
              <a:t>Instant flood extent boundaries &amp; affected area stats (&lt;70ms) to prioritize rescues.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Water Authorities (Jal Shakti): </a:t>
            </a:r>
            <a:r>
              <a:rPr sz="1050">
                <a:solidFill>
                  <a:srgbClr val="212529"/>
                </a:solidFill>
              </a:rPr>
              <a:t>Automates reservoir tracking and wetland depletion monitoring without GIS staff.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Urban Municipalities: </a:t>
            </a:r>
            <a:r>
              <a:rPr sz="1050">
                <a:solidFill>
                  <a:srgbClr val="212529"/>
                </a:solidFill>
              </a:rPr>
              <a:t>Detects unauthorized built-up sprawl and green cover loss via bi-temporal change maps.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District Administrators: </a:t>
            </a:r>
            <a:r>
              <a:rPr sz="1050">
                <a:solidFill>
                  <a:srgbClr val="212529"/>
                </a:solidFill>
              </a:rPr>
              <a:t>Enables non-technical field officers to query satellite scenes in plain natural language.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Agriculture &amp; Forestry: </a:t>
            </a:r>
            <a:r>
              <a:rPr sz="1050">
                <a:solidFill>
                  <a:srgbClr val="212529"/>
                </a:solidFill>
              </a:rPr>
              <a:t>Tracks crop canopy stress, seasonal vegetation health, and illegal deforestation trends.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Benefits of the solution (social, economic, environmental, etc.)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Social Impact: </a:t>
            </a:r>
            <a:r>
              <a:rPr sz="1050">
                <a:solidFill>
                  <a:srgbClr val="212529"/>
                </a:solidFill>
              </a:rPr>
              <a:t>Democratizes space technology; 24/7 cloud-proof situational awareness during crises.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Economic Impact: </a:t>
            </a:r>
            <a:r>
              <a:rPr sz="1050">
                <a:solidFill>
                  <a:srgbClr val="212529"/>
                </a:solidFill>
              </a:rPr>
              <a:t>Reduces GIS turnaround by 90%; eliminates expensive per-seat software licenses (ArcGIS).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Environmental Impact: </a:t>
            </a:r>
            <a:r>
              <a:rPr sz="1050">
                <a:solidFill>
                  <a:srgbClr val="212529"/>
                </a:solidFill>
              </a:rPr>
              <a:t>Continuous, objective tracking of waterbody shrinkage, deforestation, and climate resilience.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Strategic / Atmanirbhar Bharat: </a:t>
            </a:r>
            <a:r>
              <a:rPr sz="1050">
                <a:solidFill>
                  <a:srgbClr val="212529"/>
                </a:solidFill>
              </a:rPr>
              <a:t>Native support for Indian space data (ISRO Resourcesat, Cartosat, RISAT) via Bhoonidhi.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Auditability &amp; Trust: </a:t>
            </a:r>
            <a:r>
              <a:rPr sz="1050">
                <a:solidFill>
                  <a:srgbClr val="212529"/>
                </a:solidFill>
              </a:rPr>
              <a:t>Immutable telemetry logs with verifiable spatial masks and honest confidence scores.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Details / Links of the reference and research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ISRO Bhuvan &amp; Bhoonidhi National Space Portals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ISRO Bhuvan Geoportal (bhuvan.nrsc.gov.in): </a:t>
            </a:r>
            <a:r>
              <a:rPr sz="1050">
                <a:solidFill>
                  <a:srgbClr val="212529"/>
                </a:solidFill>
              </a:rPr>
              <a:t>Thematic Land Use/Land Cover (LULC), flood hazard layers, CartoDEM elevation models, and disaster services.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NRSC Bhoonidhi Open Data Hub (bhoonidhi.nrsc.gov.in): </a:t>
            </a:r>
            <a:r>
              <a:rPr sz="1050">
                <a:solidFill>
                  <a:srgbClr val="212529"/>
                </a:solidFill>
              </a:rPr>
              <a:t>Resourcesat-2/2A LISS-IV (5.8m optical), Cartosat-2/3, and RISAT-1A (EOS-04 C-band SAR) products.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ISRO MOSDAC (mosdac.gov.in): </a:t>
            </a:r>
            <a:r>
              <a:rPr sz="1050">
                <a:solidFill>
                  <a:srgbClr val="212529"/>
                </a:solidFill>
              </a:rPr>
              <a:t>Space Applications Centre (SAC) meteorological &amp; oceanographic datasets (INSAT-3D/3DR, Oceansat-2/3 scatterometer).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Ministry of Jal Shakti / NHP (indiawris.gov.in): </a:t>
            </a:r>
            <a:r>
              <a:rPr sz="1050">
                <a:solidFill>
                  <a:srgbClr val="212529"/>
                </a:solidFill>
              </a:rPr>
              <a:t>India-WRIS surface water dynamics, reservoir storage capacities, and national wetland inventory datasets.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Copernicus &amp; Global Open Geospatial Benchmarks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ESA Copernicus CDSE (dataspace.copernicus.eu): </a:t>
            </a:r>
            <a:r>
              <a:rPr sz="1050">
                <a:solidFill>
                  <a:srgbClr val="212529"/>
                </a:solidFill>
              </a:rPr>
              <a:t>Sentinel-1 (C-band SAR dual-pol VV/VH) &amp; Sentinel-2 (13-band MSI L2A surface reflectance rasters).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BigEarthNet-MM Benchmark (bigearth.net): </a:t>
            </a:r>
            <a:r>
              <a:rPr sz="1050">
                <a:solidFill>
                  <a:srgbClr val="212529"/>
                </a:solidFill>
              </a:rPr>
              <a:t>590,326 multimodal Sentinel-1/2 paired tiles used for RS-VLM domain adaptation (arXiv:1902.06148).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USGS EarthExplorer / Landsat 8-9 (earthexplorer.usgs.gov): </a:t>
            </a:r>
            <a:r>
              <a:rPr sz="1050">
                <a:solidFill>
                  <a:srgbClr val="212529"/>
                </a:solidFill>
              </a:rPr>
              <a:t>Calibrated Operational Land Imager (OLI) multi-spectral and thermal infrared radiance archives.</a:t>
            </a:r>
          </a:p>
          <a:p>
            <a:pPr>
              <a:spcBef>
                <a:spcPts val="800"/>
              </a:spcBef>
            </a:pPr>
            <a:r>
              <a:rPr b="1" sz="1050">
                <a:solidFill>
                  <a:srgbClr val="212529"/>
                </a:solidFill>
              </a:rPr>
              <a:t>• OGC &amp; STAC Open Standards (ogc.org / stacspec.org): </a:t>
            </a:r>
            <a:r>
              <a:rPr sz="1050">
                <a:solidFill>
                  <a:srgbClr val="212529"/>
                </a:solidFill>
              </a:rPr>
              <a:t>Cloud-Optimized GeoTIFF (COG), SpatioTemporal Asset Catalog, and open-source SatQuery AI pipeline.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